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</p:sldMasterIdLst>
  <p:notesMasterIdLst>
    <p:notesMasterId r:id="rId36"/>
  </p:notesMasterIdLst>
  <p:sldIdLst>
    <p:sldId id="256" r:id="rId2"/>
    <p:sldId id="258" r:id="rId3"/>
    <p:sldId id="267" r:id="rId4"/>
    <p:sldId id="278" r:id="rId5"/>
    <p:sldId id="279" r:id="rId6"/>
    <p:sldId id="446" r:id="rId7"/>
    <p:sldId id="447" r:id="rId8"/>
    <p:sldId id="448" r:id="rId9"/>
    <p:sldId id="449" r:id="rId10"/>
    <p:sldId id="450" r:id="rId11"/>
    <p:sldId id="432" r:id="rId12"/>
    <p:sldId id="463" r:id="rId13"/>
    <p:sldId id="452" r:id="rId14"/>
    <p:sldId id="335" r:id="rId15"/>
    <p:sldId id="451" r:id="rId16"/>
    <p:sldId id="453" r:id="rId17"/>
    <p:sldId id="303" r:id="rId18"/>
    <p:sldId id="336" r:id="rId19"/>
    <p:sldId id="455" r:id="rId20"/>
    <p:sldId id="454" r:id="rId21"/>
    <p:sldId id="312" r:id="rId22"/>
    <p:sldId id="314" r:id="rId23"/>
    <p:sldId id="440" r:id="rId24"/>
    <p:sldId id="439" r:id="rId25"/>
    <p:sldId id="423" r:id="rId26"/>
    <p:sldId id="442" r:id="rId27"/>
    <p:sldId id="443" r:id="rId28"/>
    <p:sldId id="461" r:id="rId29"/>
    <p:sldId id="460" r:id="rId30"/>
    <p:sldId id="462" r:id="rId31"/>
    <p:sldId id="459" r:id="rId32"/>
    <p:sldId id="457" r:id="rId33"/>
    <p:sldId id="458" r:id="rId34"/>
    <p:sldId id="464" r:id="rId35"/>
  </p:sldIdLst>
  <p:sldSz cx="12192000" cy="6858000"/>
  <p:notesSz cx="6858000" cy="9144000"/>
  <p:embeddedFontLst>
    <p:embeddedFont>
      <p:font typeface="Cambria Math" panose="02040503050406030204" pitchFamily="18" charset="0"/>
      <p:regular r:id="rId37"/>
    </p:embeddedFont>
    <p:embeddedFont>
      <p:font typeface="Century Gothic" panose="020B0502020202020204" pitchFamily="34" charset="0"/>
      <p:regular r:id="rId38"/>
      <p:bold r:id="rId39"/>
      <p:italic r:id="rId40"/>
      <p:boldItalic r:id="rId41"/>
    </p:embeddedFont>
    <p:embeddedFont>
      <p:font typeface="Wingdings 3" panose="05040102010807070707" pitchFamily="18" charset="2"/>
      <p:regular r:id="rId4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CC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85" autoAdjust="0"/>
    <p:restoredTop sz="88466" autoAdjust="0"/>
  </p:normalViewPr>
  <p:slideViewPr>
    <p:cSldViewPr snapToGrid="0">
      <p:cViewPr varScale="1">
        <p:scale>
          <a:sx n="69" d="100"/>
          <a:sy n="69" d="100"/>
        </p:scale>
        <p:origin x="48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9" d="100"/>
          <a:sy n="59" d="100"/>
        </p:scale>
        <p:origin x="2528" y="5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6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5.fntdata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05:46:46.4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1940 24575,'2'0'0,"1"-1"0,0 1 0,0 0 0,0-1 0,0 0 0,-1 1 0,1-1 0,0-1 0,-1 1 0,1 0 0,-1 0 0,1-1 0,-1 0 0,0 1 0,1-1 0,-1 0 0,0 0 0,0 0 0,1-3 0,4-4 0,0-1 0,-1 0 0,7-16 0,5-10 0,9-6 0,-1-2 0,26-65 0,-39 79 0,2 2 0,1 0 0,20-27 0,-15 24 0,30-61 0,-46 80 0,1-1 0,1 1 0,0 1 0,0-1 0,14-14 0,-6 7 0,22-36 0,-23 33 0,20-25 0,58-79 0,-35 52 0,33-38 0,-17 16 0,-42 53 0,4-8 0,-19 28 0,0 0 0,2 1 0,26-27 0,-22 27 0,-1-2 0,30-43 0,22-26 0,-28 43 0,37-38 0,-70 76 0,1 2 0,0-1 0,0 2 0,1 0 0,18-9 0,18-7 0,-32 14 0,1 2 0,1 0 0,0 1 0,38-10 0,-17 10 0,0 2 0,1 1 0,-1 3 0,56 3 0,166 38 0,-113-13 0,-121-22 0,1 2 0,-1 2 0,38 14 0,12 7 0,1-2 0,86 15 0,-114-30 0,-1 1 0,-1 4 0,0 1 0,71 37 0,171 105 0,-226-126 0,1-3 0,112 36 0,-144-55 0,149 38 0,-119-34 0,100 37 0,-70-22 0,-67-23 0,1 2 0,44 21 0,-4 2 0,-52-27 0,-1 1 0,0 1 0,-1 1 0,1 0 0,-2 1 0,1 1 0,18 17 0,244 230 0,-243-226 0,-2 1 0,41 55 0,0-1 0,17 15 0,53 58 0,-49-61 0,53 51 0,-37-33 0,21 18 0,-41-50 0,-15-12 0,56 60 0,-5-5 0,-25-50 0,-30-24 0,-43-34 0,34 20 0,-35-24 0,44 35 0,-55-37 0,-6-7 0,0 1 0,-1 1 0,0 0 0,-1 0 0,0 1 0,9 13 0,5 11 0,32 40 0,-35-52 0,-2 2 0,0 0 0,-2 1 0,14 28 0,-19-30-1365,-1-5-5461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05:46:58.7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602 4 24575,'-54'-1'0,"34"-1"0,-1 1 0,1 2 0,-1 0 0,1 1 0,-40 9 0,55-9 0,0 0 0,0 0 0,0 1 0,1 0 0,-1 0 0,1 0 0,0 0 0,0 1 0,-7 7 0,-29 43 0,19-23 0,3-10 0,-38 37 0,36-40 0,2 0 0,-25 33 0,25-25 0,2 0 0,0 2 0,-20 48 0,29-58 0,1 1 0,1 0 0,1 1 0,0-1 0,2 1 0,-1 37 0,3-16 0,0 7 0,10 70 0,-8-102 0,2 1 0,0-1 0,1 1 0,1-1 0,0-1 0,1 1 0,17 27 0,-11-26 0,0 0 0,2 0 0,0-1 0,0-1 0,2-1 0,24 18 0,0-5 0,77 38 0,-59-40 0,1-2 0,0-3 0,2-2 0,0-3 0,0-3 0,98 7 0,-80-15 0,107-7 0,-174 1 0,-1 0 0,0 0 0,0-2 0,0 1 0,0-1 0,0-1 0,-1 0 0,0-1 0,18-12 0,5-6 0,46-44 0,-19 9 0,-36 33 0,1 2 0,29-22 0,-48 41 0,-1-1 0,0 1 0,-1-1 0,0 0 0,1-1 0,-2 1 0,1-1 0,-1 0 0,0 0 0,-1-1 0,5-12 0,2-8 0,8-54 0,-13 58 0,4-38 0,-2-2 0,-3 1 0,-5-67 0,0 58 0,0 64 0,0 0 0,0-1 0,0 1 0,-1 0 0,0 0 0,-1 0 0,0 0 0,0 0 0,-1 1 0,0 0 0,-5-8 0,-2 0 0,0 0 0,0 2 0,-2-1 0,-14-12 0,16 18 0,0 0 0,0 1 0,-1 1 0,0 0 0,0 0 0,-22-6 0,15 5 0,-29-15 0,30 11 0,-1 1 0,0 1 0,0 0 0,-1 2 0,0 0 0,0 1 0,-25-3 0,-143-13 0,108 13 0,-52-3 0,-192 9-1365,286 4-5461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05:47:01.8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1322 289 24575,'0'-2'0,"-1"0"0,1 1 0,-1-1 0,0 0 0,0 1 0,0-1 0,1 1 0,-1 0 0,-1-1 0,1 1 0,0 0 0,0-1 0,-3 0 0,-5-9 0,-1-6 0,-1 1 0,0 1 0,-1 0 0,-1 0 0,0 1 0,-1 1 0,-22-17 0,11 13 0,-1 2 0,-1 1 0,-1 1 0,0 1 0,0 1 0,-1 2 0,0 1 0,-1 1 0,0 1 0,0 2 0,-51 0 0,-135 6 0,178 0 0,1 3 0,0 1 0,-62 19 0,-143 55 0,231-78 0,1 2 0,0 0 0,0 0 0,-10 6 0,17-8 0,-1 0 0,1 1 0,0-1 0,0 1 0,0 0 0,0 0 0,1 0 0,-1 1 0,1-1 0,0 0 0,0 1 0,0 0 0,-3 7 0,1 2 0,1 0 0,0 1 0,0-1 0,0 28 0,4 59 0,1-41 0,-2 8 0,-2-30 0,2 0 0,2 0 0,1 0 0,15 62 0,-14-88 0,0 1 0,1-1 0,1-1 0,0 1 0,0-1 0,1 0 0,12 13 0,64 61 0,-48-55 0,1-2 0,1-1 0,2-2 0,0-2 0,53 22 0,-57-30 0,0-1 0,1-1 0,56 9 0,115 4 0,-84-14 0,-56-4 0,0-2 0,82-6 0,-136-1 0,-1 0 0,0-1 0,0-1 0,-1 0 0,1 0 0,-1-1 0,1-1 0,-2 0 0,1 0 0,-1-1 0,0 0 0,14-13 0,-4 1 0,-1-1 0,-1 0 0,0-2 0,22-37 0,-34 49 0,-1 0 0,0 0 0,-1-1 0,0 0 0,-1 0 0,0 0 0,-1 0 0,2-20 0,-3-8 0,-3-49 0,-1 19 0,3 52 0,-1 0 0,0 1 0,-2-1 0,0 1 0,-1 0 0,0 0 0,-1 0 0,-1 0 0,-1 1 0,0 0 0,-1 0 0,0 1 0,-1 0 0,-14-15 0,14 17 0,1 1 0,0-1 0,1-1 0,-11-25 0,10 22-273,0 0 0,-1 0 0,-1 0 0,-16-18 0,12 15-6553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EF8306-3CF4-4170-B363-051D6573594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8C6024-E483-4F0F-B80F-D2FB84EF2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6368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 is a constant . NP-complete for k&gt;=3, believed to require super poly time.</a:t>
            </a:r>
          </a:p>
          <a:p>
            <a:r>
              <a:rPr lang="en-US" dirty="0"/>
              <a:t> Actually seems even harder : best-known algo is close to brute force.</a:t>
            </a:r>
          </a:p>
          <a:p>
            <a:r>
              <a:rPr lang="en-US" dirty="0"/>
              <a:t>The fastest known randomized algorithm for 3-SAT is due to </a:t>
            </a:r>
            <a:r>
              <a:rPr lang="en-US" dirty="0" err="1"/>
              <a:t>Hertli</a:t>
            </a:r>
            <a:r>
              <a:rPr lang="en-US" dirty="0"/>
              <a:t> [Her14], running in O(1.308n) time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C6024-E483-4F0F-B80F-D2FB84EF238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2362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with O(log n) bit words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C6024-E483-4F0F-B80F-D2FB84EF238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0535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C6024-E483-4F0F-B80F-D2FB84EF238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5930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Fundamental problem. Even approximation algorithms seem hard!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C6024-E483-4F0F-B80F-D2FB84EF238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0191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461BD-0C7A-C9F0-AA77-67107BC98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4CF767-EF37-2050-24AE-274211E7A5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F89B2B-965B-9EA2-3EFD-E52061CB47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traditional complexity theory seems insufficient : polytime vs super-poly time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98706-868C-A19E-E823-B8B0983D2F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C6024-E483-4F0F-B80F-D2FB84EF238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5517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traditional complexity theory seems insufficient : polytime vs super-poly time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8C6024-E483-4F0F-B80F-D2FB84EF238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1712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02AF3-49F4-3A6E-E8E6-D612435F5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8126E6-13E8-D751-1A8F-CFAAF770BE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2D8546-9F08-D58D-0ED5-EDBEF58386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9CE337-F69E-7A9B-4002-93406FA759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C6024-E483-4F0F-B80F-D2FB84EF238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0603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simulate some computation, diagonalization</a:t>
            </a:r>
          </a:p>
          <a:p>
            <a:r>
              <a:rPr lang="en-US" dirty="0"/>
              <a:t>no insight for the problems we care about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C6024-E483-4F0F-B80F-D2FB84EF238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7749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reduce from 3-sat to clique, with arbitrary polynomial blow-up. (</a:t>
            </a:r>
            <a:r>
              <a:rPr lang="en-US" sz="1200" dirty="0">
                <a:solidFill>
                  <a:schemeClr val="tx1"/>
                </a:solidFill>
              </a:rPr>
              <a:t>if CLIQUE has a </a:t>
            </a:r>
            <a:r>
              <a:rPr lang="en-US" sz="1200" dirty="0">
                <a:solidFill>
                  <a:srgbClr val="FF0000"/>
                </a:solidFill>
              </a:rPr>
              <a:t>polynomial</a:t>
            </a:r>
            <a:r>
              <a:rPr lang="en-US" sz="1200" dirty="0">
                <a:solidFill>
                  <a:schemeClr val="tx1"/>
                </a:solidFill>
              </a:rPr>
              <a:t> time algorithm, then it can be used to solve </a:t>
            </a:r>
            <a:r>
              <a:rPr lang="en-US" sz="1200" dirty="0">
                <a:solidFill>
                  <a:srgbClr val="0070C0"/>
                </a:solidFill>
              </a:rPr>
              <a:t>SAT</a:t>
            </a:r>
            <a:r>
              <a:rPr lang="en-US" sz="1200" dirty="0">
                <a:solidFill>
                  <a:schemeClr val="tx1"/>
                </a:solidFill>
              </a:rPr>
              <a:t> / any problem in NP in </a:t>
            </a:r>
            <a:r>
              <a:rPr lang="en-US" sz="1200" dirty="0">
                <a:solidFill>
                  <a:srgbClr val="FF0000"/>
                </a:solidFill>
              </a:rPr>
              <a:t>polynomial</a:t>
            </a:r>
            <a:r>
              <a:rPr lang="en-US" sz="1200" dirty="0">
                <a:solidFill>
                  <a:schemeClr val="tx1"/>
                </a:solidFill>
              </a:rPr>
              <a:t> time)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tx1"/>
                </a:solidFill>
              </a:rPr>
              <a:t>Conditioned on a Believable hypothesis;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tx1"/>
                </a:solidFill>
              </a:rPr>
              <a:t>A single hypothesis -&gt; many conditional hardness results. (Hamiltonian path, integer programming, ..)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C6024-E483-4F0F-B80F-D2FB84EF238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442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C6024-E483-4F0F-B80F-D2FB84EF238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4389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chemeClr val="bg1"/>
                </a:solidFill>
              </a:rPr>
              <a:t>Strengthening of SETH </a:t>
            </a:r>
            <a:r>
              <a:rPr lang="en-US" sz="1200" dirty="0">
                <a:solidFill>
                  <a:schemeClr val="bg1"/>
                </a:solidFill>
              </a:rPr>
              <a:t>[CGIMPS’16] suggests these are </a:t>
            </a:r>
            <a:r>
              <a:rPr lang="en-US" sz="1200" b="1" dirty="0">
                <a:solidFill>
                  <a:srgbClr val="C00000"/>
                </a:solidFill>
              </a:rPr>
              <a:t>not equivalent</a:t>
            </a:r>
            <a:r>
              <a:rPr lang="en-US" sz="1200" b="1" dirty="0">
                <a:solidFill>
                  <a:schemeClr val="bg1"/>
                </a:solidFill>
              </a:rPr>
              <a:t>…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C6024-E483-4F0F-B80F-D2FB84EF238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8298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alphabet 7, improved to binary alphabet later.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C6024-E483-4F0F-B80F-D2FB84EF238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7721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dirty="0"/>
              <a:t>Delta can be smaller than epsilon. The </a:t>
            </a:r>
            <a:r>
              <a:rPr lang="en-US" dirty="0" err="1"/>
              <a:t>ni’s</a:t>
            </a:r>
            <a:r>
              <a:rPr lang="en-US" dirty="0"/>
              <a:t> are small so we can ask many questions on small </a:t>
            </a:r>
            <a:r>
              <a:rPr lang="en-US" dirty="0" err="1"/>
              <a:t>subinstances</a:t>
            </a:r>
            <a:r>
              <a:rPr lang="en-US" dirty="0"/>
              <a:t>.</a:t>
            </a:r>
          </a:p>
          <a:p>
            <a:pPr>
              <a:spcBef>
                <a:spcPct val="0"/>
              </a:spcBef>
            </a:pPr>
            <a:r>
              <a:rPr lang="en-US" dirty="0"/>
              <a:t>even randomized is fine</a:t>
            </a:r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139BFA54-BBF2-45A8-9C8A-9DDD1FBF18DD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dirty="0"/>
              <a:t>Convex polygon containment: O(</a:t>
            </a:r>
            <a:r>
              <a:rPr lang="en-US" dirty="0" err="1"/>
              <a:t>n+m</a:t>
            </a:r>
            <a:r>
              <a:rPr lang="en-US" dirty="0"/>
              <a:t>).  non-convex (even if orthogonal) quadratic time.</a:t>
            </a:r>
          </a:p>
          <a:p>
            <a:pPr>
              <a:spcBef>
                <a:spcPct val="0"/>
              </a:spcBef>
            </a:pPr>
            <a:endParaRPr lang="en-US" dirty="0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D495D0AA-30F1-4601-ADA4-83BCCCC16F53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Any two vector nodes from the same side are at </a:t>
            </a:r>
            <a:r>
              <a:rPr lang="en-US" dirty="0" err="1"/>
              <a:t>dist</a:t>
            </a:r>
            <a:r>
              <a:rPr lang="en-US" dirty="0"/>
              <a:t> 2. </a:t>
            </a:r>
          </a:p>
          <a:p>
            <a:r>
              <a:rPr lang="en-US" dirty="0"/>
              <a:t>Any coordinate is at </a:t>
            </a:r>
            <a:r>
              <a:rPr lang="en-US" dirty="0" err="1"/>
              <a:t>dist</a:t>
            </a:r>
            <a:r>
              <a:rPr lang="en-US" dirty="0"/>
              <a:t> 2 from everyone, X and Y are at </a:t>
            </a:r>
            <a:r>
              <a:rPr lang="en-US" dirty="0" err="1"/>
              <a:t>dist</a:t>
            </a:r>
            <a:r>
              <a:rPr lang="en-US" dirty="0"/>
              <a:t> 2 from everyone. </a:t>
            </a:r>
          </a:p>
          <a:p>
            <a:r>
              <a:rPr lang="en-US" dirty="0"/>
              <a:t>Two vectors u and v from different sides are at </a:t>
            </a:r>
            <a:r>
              <a:rPr lang="en-US" dirty="0" err="1"/>
              <a:t>dist</a:t>
            </a:r>
            <a:r>
              <a:rPr lang="en-US" dirty="0"/>
              <a:t> 2 if exists a c with u[c]=v[c]=1, and at </a:t>
            </a:r>
            <a:r>
              <a:rPr lang="en-US" dirty="0" err="1"/>
              <a:t>dist</a:t>
            </a:r>
            <a:r>
              <a:rPr lang="en-US" dirty="0"/>
              <a:t> 3 otherwise.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C6024-E483-4F0F-B80F-D2FB84EF2380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8392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Proof on the board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C6024-E483-4F0F-B80F-D2FB84EF2380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3329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C6024-E483-4F0F-B80F-D2FB84EF2380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9895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C6024-E483-4F0F-B80F-D2FB84EF2380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873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5420B-93B1-4795-9847-BAC9029E94D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DDA7-4361-41CE-B5FF-F86F9B93156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4790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5420B-93B1-4795-9847-BAC9029E94D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DDA7-4361-41CE-B5FF-F86F9B9315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789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5420B-93B1-4795-9847-BAC9029E94D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DDA7-4361-41CE-B5FF-F86F9B93156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9250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5420B-93B1-4795-9847-BAC9029E94D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DDA7-4361-41CE-B5FF-F86F9B9315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873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5420B-93B1-4795-9847-BAC9029E94D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DDA7-4361-41CE-B5FF-F86F9B9315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568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5420B-93B1-4795-9847-BAC9029E94D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DDA7-4361-41CE-B5FF-F86F9B9315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39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5420B-93B1-4795-9847-BAC9029E94D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DDA7-4361-41CE-B5FF-F86F9B9315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794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4D5420B-93B1-4795-9847-BAC9029E94D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1C5DDA7-4361-41CE-B5FF-F86F9B9315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264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5420B-93B1-4795-9847-BAC9029E94D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DDA7-4361-41CE-B5FF-F86F9B9315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01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5420B-93B1-4795-9847-BAC9029E94D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DDA7-4361-41CE-B5FF-F86F9B9315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237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5420B-93B1-4795-9847-BAC9029E94D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DDA7-4361-41CE-B5FF-F86F9B9315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026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4D5420B-93B1-4795-9847-BAC9029E94D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1C5DDA7-4361-41CE-B5FF-F86F9B93156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4805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6.png"/><Relationship Id="rId7" Type="http://schemas.openxmlformats.org/officeDocument/2006/relationships/customXml" Target="../ink/ink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customXml" Target="../ink/ink1.xml"/><Relationship Id="rId10" Type="http://schemas.openxmlformats.org/officeDocument/2006/relationships/image" Target="../media/image24.png"/><Relationship Id="rId4" Type="http://schemas.openxmlformats.org/officeDocument/2006/relationships/image" Target="../media/image21.png"/><Relationship Id="rId9" Type="http://schemas.openxmlformats.org/officeDocument/2006/relationships/customXml" Target="../ink/ink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5.png"/><Relationship Id="rId7" Type="http://schemas.openxmlformats.org/officeDocument/2006/relationships/image" Target="../media/image1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0.png"/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0.png"/><Relationship Id="rId4" Type="http://schemas.openxmlformats.org/officeDocument/2006/relationships/image" Target="../media/image38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0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0.png"/><Relationship Id="rId4" Type="http://schemas.openxmlformats.org/officeDocument/2006/relationships/image" Target="../media/image460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89E4D-0A7A-4061-9D6B-901A2AFBA5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7200" dirty="0"/>
              <a:t>Introduction to </a:t>
            </a:r>
            <a:br>
              <a:rPr lang="en-US" sz="7200" dirty="0"/>
            </a:br>
            <a:r>
              <a:rPr lang="en-US" sz="7200" dirty="0"/>
              <a:t>Fine-Grained Complexity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58290E-2BCE-D38A-A446-D71E949E5923}"/>
              </a:ext>
            </a:extLst>
          </p:cNvPr>
          <p:cNvSpPr txBox="1"/>
          <p:nvPr/>
        </p:nvSpPr>
        <p:spPr>
          <a:xfrm>
            <a:off x="2001328" y="4511888"/>
            <a:ext cx="85919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Ce Jin @ UC Berkeley (11/18/2025)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6468A6-DADA-2527-2A34-A9F05FDD6CAB}"/>
              </a:ext>
            </a:extLst>
          </p:cNvPr>
          <p:cNvSpPr txBox="1"/>
          <p:nvPr/>
        </p:nvSpPr>
        <p:spPr>
          <a:xfrm>
            <a:off x="186904" y="5868215"/>
            <a:ext cx="85919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(Based on slides of Virginia </a:t>
            </a:r>
            <a:r>
              <a:rPr lang="en-US" sz="2400" dirty="0" err="1"/>
              <a:t>Vassilevska</a:t>
            </a:r>
            <a:r>
              <a:rPr lang="en-US" sz="2400" dirty="0"/>
              <a:t> Williams and Ryan Williams)</a:t>
            </a:r>
          </a:p>
        </p:txBody>
      </p:sp>
    </p:spTree>
    <p:extLst>
      <p:ext uri="{BB962C8B-B14F-4D97-AF65-F5344CB8AC3E}">
        <p14:creationId xmlns:p14="http://schemas.microsoft.com/office/powerpoint/2010/main" val="18163457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737" y="222406"/>
            <a:ext cx="10927943" cy="1450757"/>
          </a:xfrm>
        </p:spPr>
        <p:txBody>
          <a:bodyPr/>
          <a:lstStyle/>
          <a:p>
            <a:r>
              <a:rPr lang="en-US" dirty="0"/>
              <a:t>The Central Question of Algorithms Research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6280" y="2084918"/>
            <a:ext cx="10820400" cy="350999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500" b="1" dirty="0">
                <a:solidFill>
                  <a:srgbClr val="FF0000"/>
                </a:solidFill>
              </a:rPr>
              <a:t>``How fast can we solve fundamental problems, in the worst case?’’</a:t>
            </a:r>
          </a:p>
          <a:p>
            <a:endParaRPr lang="en-US" sz="4500" dirty="0">
              <a:solidFill>
                <a:srgbClr val="FFFF00"/>
              </a:solidFill>
            </a:endParaRPr>
          </a:p>
        </p:txBody>
      </p:sp>
      <p:pic>
        <p:nvPicPr>
          <p:cNvPr id="4" name="Picture 3" descr="algsprincet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55757"/>
            <a:ext cx="1524000" cy="1920240"/>
          </a:xfrm>
          <a:prstGeom prst="rect">
            <a:avLst/>
          </a:prstGeom>
        </p:spPr>
      </p:pic>
      <p:pic>
        <p:nvPicPr>
          <p:cNvPr id="5" name="Picture 4" descr="clr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0874" y="4469279"/>
            <a:ext cx="1635790" cy="1906718"/>
          </a:xfrm>
          <a:prstGeom prst="rect">
            <a:avLst/>
          </a:prstGeom>
        </p:spPr>
      </p:pic>
      <p:pic>
        <p:nvPicPr>
          <p:cNvPr id="6" name="Picture 5" descr="kltardo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7010" y="4486812"/>
            <a:ext cx="1653037" cy="1889185"/>
          </a:xfrm>
          <a:prstGeom prst="rect">
            <a:avLst/>
          </a:prstGeom>
        </p:spPr>
      </p:pic>
      <p:pic>
        <p:nvPicPr>
          <p:cNvPr id="7" name="Picture 6" descr="kozenbook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8350" y="4447725"/>
            <a:ext cx="1228330" cy="1928272"/>
          </a:xfrm>
          <a:prstGeom prst="rect">
            <a:avLst/>
          </a:prstGeom>
        </p:spPr>
      </p:pic>
      <p:pic>
        <p:nvPicPr>
          <p:cNvPr id="8" name="Picture 7" descr="dsalgs-ahu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5790" y="4448471"/>
            <a:ext cx="1299138" cy="1927525"/>
          </a:xfrm>
          <a:prstGeom prst="rect">
            <a:avLst/>
          </a:prstGeom>
        </p:spPr>
      </p:pic>
      <p:pic>
        <p:nvPicPr>
          <p:cNvPr id="9" name="Picture 8" descr="ahu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7455" y="4452306"/>
            <a:ext cx="1269938" cy="19236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532117" y="6006664"/>
            <a:ext cx="1115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1587005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Hard</a:t>
            </a:r>
            <a:r>
              <a:rPr lang="en-US" dirty="0"/>
              <a:t>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79" y="1838910"/>
            <a:ext cx="10284953" cy="40233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dirty="0"/>
              <a:t>For many problems, all known techniques</a:t>
            </a:r>
            <a:r>
              <a:rPr lang="en-US" sz="3200" dirty="0">
                <a:solidFill>
                  <a:srgbClr val="C00000"/>
                </a:solidFill>
              </a:rPr>
              <a:t> get stuck</a:t>
            </a:r>
            <a:r>
              <a:rPr lang="en-US" sz="3200" dirty="0"/>
              <a:t>: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3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  Very </a:t>
            </a:r>
            <a:r>
              <a:rPr lang="en-US" sz="3200" dirty="0">
                <a:solidFill>
                  <a:srgbClr val="C00000"/>
                </a:solidFill>
              </a:rPr>
              <a:t>important</a:t>
            </a:r>
            <a:r>
              <a:rPr lang="en-US" sz="3200" dirty="0"/>
              <a:t> problems from </a:t>
            </a:r>
            <a:r>
              <a:rPr lang="en-US" sz="3200" dirty="0">
                <a:solidFill>
                  <a:srgbClr val="C00000"/>
                </a:solidFill>
              </a:rPr>
              <a:t>diverse</a:t>
            </a:r>
            <a:r>
              <a:rPr lang="en-US" sz="3200" dirty="0"/>
              <a:t> areas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rgbClr val="0070C0"/>
                </a:solidFill>
              </a:rPr>
              <a:t>  Simple</a:t>
            </a:r>
            <a:r>
              <a:rPr lang="en-US" sz="3200" dirty="0"/>
              <a:t>, often brute-force, </a:t>
            </a:r>
            <a:r>
              <a:rPr lang="en-US" sz="3200" dirty="0">
                <a:solidFill>
                  <a:srgbClr val="0070C0"/>
                </a:solidFill>
              </a:rPr>
              <a:t>textbook</a:t>
            </a:r>
            <a:r>
              <a:rPr lang="en-US" sz="3200" dirty="0"/>
              <a:t> algorithms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  that are slow.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rgbClr val="CC3399"/>
                </a:solidFill>
              </a:rPr>
              <a:t>  No improvements </a:t>
            </a:r>
            <a:r>
              <a:rPr lang="en-US" sz="3200" dirty="0"/>
              <a:t>in many decades!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3200" dirty="0"/>
          </a:p>
          <a:p>
            <a:pPr>
              <a:buFont typeface="Wingdings" panose="05000000000000000000" pitchFamily="2" charset="2"/>
              <a:buChar char="§"/>
            </a:pPr>
            <a:endParaRPr lang="en-US" sz="3200" dirty="0"/>
          </a:p>
          <a:p>
            <a:pPr>
              <a:buFont typeface="Wingdings" panose="05000000000000000000" pitchFamily="2" charset="2"/>
              <a:buChar char="§"/>
            </a:pPr>
            <a:endParaRPr lang="en-US" sz="3200" dirty="0"/>
          </a:p>
          <a:p>
            <a:pPr>
              <a:buFont typeface="Wingdings" panose="05000000000000000000" pitchFamily="2" charset="2"/>
              <a:buChar char="§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879515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>
          <a:xfrm>
            <a:off x="1569494" y="32007"/>
            <a:ext cx="10302440" cy="1281112"/>
          </a:xfrm>
        </p:spPr>
        <p:txBody>
          <a:bodyPr>
            <a:normAutofit/>
          </a:bodyPr>
          <a:lstStyle/>
          <a:p>
            <a:r>
              <a:rPr lang="en-US" dirty="0"/>
              <a:t>A canonical hard problem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989463" y="4511070"/>
                <a:ext cx="10756334" cy="1132366"/>
              </a:xfrm>
            </p:spPr>
            <p:txBody>
              <a:bodyPr rtlCol="0">
                <a:normAutofit fontScale="92500" lnSpcReduction="20000"/>
              </a:bodyPr>
              <a:lstStyle/>
              <a:p>
                <a:pPr fontAlgn="auto">
                  <a:spcAft>
                    <a:spcPts val="0"/>
                  </a:spcAft>
                  <a:buFont typeface="Wingdings 3" charset="2"/>
                  <a:buNone/>
                  <a:defRPr/>
                </a:pPr>
                <a:r>
                  <a:rPr lang="en-US" sz="3500" dirty="0">
                    <a:solidFill>
                      <a:srgbClr val="7030A0"/>
                    </a:solidFill>
                  </a:rPr>
                  <a:t>Brute-force algorithm</a:t>
                </a:r>
                <a:r>
                  <a:rPr lang="en-US" sz="35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: try all</a:t>
                </a:r>
                <a:r>
                  <a:rPr lang="en-US" sz="3500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5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5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35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3500" dirty="0">
                    <a:solidFill>
                      <a:srgbClr val="C00000"/>
                    </a:solidFill>
                  </a:rPr>
                  <a:t> </a:t>
                </a:r>
                <a:r>
                  <a:rPr lang="en-US" sz="35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assignments</a:t>
                </a:r>
              </a:p>
              <a:p>
                <a:pPr fontAlgn="auto">
                  <a:spcAft>
                    <a:spcPts val="0"/>
                  </a:spcAft>
                  <a:buFont typeface="Wingdings 3" charset="2"/>
                  <a:buNone/>
                  <a:defRPr/>
                </a:pPr>
                <a:r>
                  <a:rPr lang="en-US" sz="3500" dirty="0">
                    <a:solidFill>
                      <a:srgbClr val="7030A0"/>
                    </a:solidFill>
                  </a:rPr>
                  <a:t>Best known algorithm</a:t>
                </a:r>
                <a:r>
                  <a:rPr lang="en-US" sz="35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en-US" sz="35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35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35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5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35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3500" i="1">
                                <a:latin typeface="Cambria Math" panose="02040503050406030204" pitchFamily="18" charset="0"/>
                              </a:rPr>
                              <m:t> − </m:t>
                            </m:r>
                            <m:f>
                              <m:fPr>
                                <m:ctrlPr>
                                  <a:rPr lang="en-US" sz="35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3500" i="1">
                                    <a:latin typeface="Cambria Math" panose="02040503050406030204" pitchFamily="18" charset="0"/>
                                  </a:rPr>
                                  <m:t>𝑐𝑛</m:t>
                                </m:r>
                              </m:num>
                              <m:den>
                                <m:r>
                                  <a:rPr lang="en-US" sz="35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den>
                            </m:f>
                          </m:sup>
                        </m:sSup>
                        <m:r>
                          <a:rPr lang="en-US" sz="3500" i="1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35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5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sz="35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3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time for const </a:t>
                </a:r>
                <a:r>
                  <a:rPr lang="en-US" sz="30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c,d</a:t>
                </a:r>
                <a:endParaRPr lang="en-US" sz="30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  <a:p>
                <a:pPr fontAlgn="auto">
                  <a:spcAft>
                    <a:spcPts val="0"/>
                  </a:spcAft>
                  <a:buFont typeface="Wingdings 3" charset="2"/>
                  <a:buNone/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  <a:p>
                <a:pPr fontAlgn="auto">
                  <a:spcAft>
                    <a:spcPts val="0"/>
                  </a:spcAft>
                  <a:buFont typeface="Wingdings 3" charset="2"/>
                  <a:buNone/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  <a:p>
                <a:pPr fontAlgn="auto">
                  <a:spcAft>
                    <a:spcPts val="0"/>
                  </a:spcAft>
                  <a:buFont typeface="Wingdings 3" charset="2"/>
                  <a:buNone/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  <a:p>
                <a:pPr fontAlgn="auto">
                  <a:spcAft>
                    <a:spcPts val="0"/>
                  </a:spcAft>
                  <a:buFont typeface="Wingdings 3" charset="2"/>
                  <a:buNone/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989463" y="4511070"/>
                <a:ext cx="10756334" cy="1132366"/>
              </a:xfrm>
              <a:blipFill>
                <a:blip r:embed="rId3"/>
                <a:stretch>
                  <a:fillRect l="-2266" t="-17742"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10101290" y="4371287"/>
            <a:ext cx="220249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70C0"/>
                </a:solidFill>
              </a:rPr>
              <a:t>Goes to 2</a:t>
            </a:r>
            <a:r>
              <a:rPr lang="en-US" sz="3200" baseline="30000" dirty="0">
                <a:solidFill>
                  <a:srgbClr val="0070C0"/>
                </a:solidFill>
              </a:rPr>
              <a:t>n</a:t>
            </a:r>
            <a:r>
              <a:rPr lang="en-US" sz="3200" dirty="0">
                <a:solidFill>
                  <a:srgbClr val="0070C0"/>
                </a:solidFill>
              </a:rPr>
              <a:t> as k grows.</a:t>
            </a:r>
          </a:p>
        </p:txBody>
      </p:sp>
      <p:sp>
        <p:nvSpPr>
          <p:cNvPr id="5" name="TextBox 4"/>
          <p:cNvSpPr txBox="1"/>
          <p:nvPr/>
        </p:nvSpPr>
        <p:spPr>
          <a:xfrm rot="21056863">
            <a:off x="167738" y="608875"/>
            <a:ext cx="2460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 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4F1361-66C5-4DA0-8129-0A49D300A51C}"/>
              </a:ext>
            </a:extLst>
          </p:cNvPr>
          <p:cNvSpPr/>
          <p:nvPr/>
        </p:nvSpPr>
        <p:spPr>
          <a:xfrm>
            <a:off x="989463" y="1413313"/>
            <a:ext cx="10672549" cy="291884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1440" lvl="0" indent="-91440" defTabSz="914400">
              <a:lnSpc>
                <a:spcPct val="90000"/>
              </a:lnSpc>
              <a:spcBef>
                <a:spcPts val="1200"/>
              </a:spcBef>
              <a:buClr>
                <a:srgbClr val="E48312"/>
              </a:buClr>
              <a:buSzPct val="100000"/>
              <a:defRPr/>
            </a:pPr>
            <a:r>
              <a:rPr lang="en-US" sz="2800" b="1" dirty="0">
                <a:solidFill>
                  <a:srgbClr val="C00000"/>
                </a:solidFill>
              </a:rPr>
              <a:t>k-SAT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</a:p>
          <a:p>
            <a:pPr marL="91440" lvl="0" indent="-91440" defTabSz="914400">
              <a:lnSpc>
                <a:spcPct val="90000"/>
              </a:lnSpc>
              <a:spcBef>
                <a:spcPts val="1200"/>
              </a:spcBef>
              <a:buClr>
                <a:srgbClr val="E48312"/>
              </a:buClr>
              <a:buSzPct val="100000"/>
              <a:defRPr/>
            </a:pPr>
            <a:r>
              <a:rPr lang="en-US" sz="2800" i="1" dirty="0">
                <a:solidFill>
                  <a:srgbClr val="FF0000"/>
                </a:solidFill>
              </a:rPr>
              <a:t>Input</a:t>
            </a:r>
            <a:r>
              <a:rPr lang="en-US" sz="2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: variables x</a:t>
            </a:r>
            <a:r>
              <a:rPr lang="en-US" sz="2800" baseline="-25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1</a:t>
            </a:r>
            <a:r>
              <a:rPr lang="en-US" sz="2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, … ,</a:t>
            </a:r>
            <a:r>
              <a:rPr lang="en-US" sz="2800" dirty="0" err="1">
                <a:solidFill>
                  <a:srgbClr val="000000">
                    <a:lumMod val="75000"/>
                    <a:lumOff val="25000"/>
                  </a:srgbClr>
                </a:solidFill>
              </a:rPr>
              <a:t>x</a:t>
            </a:r>
            <a:r>
              <a:rPr lang="en-US" sz="2800" baseline="-25000" dirty="0" err="1">
                <a:solidFill>
                  <a:srgbClr val="000000">
                    <a:lumMod val="75000"/>
                    <a:lumOff val="25000"/>
                  </a:srgbClr>
                </a:solidFill>
              </a:rPr>
              <a:t>n</a:t>
            </a:r>
            <a:r>
              <a:rPr lang="en-US" sz="2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 and a CNF formula F = </a:t>
            </a:r>
            <a:r>
              <a:rPr lang="en-US" sz="2800" dirty="0">
                <a:solidFill>
                  <a:srgbClr val="002060"/>
                </a:solidFill>
              </a:rPr>
              <a:t>C</a:t>
            </a:r>
            <a:r>
              <a:rPr lang="en-US" sz="2800" baseline="-25000" dirty="0">
                <a:solidFill>
                  <a:srgbClr val="002060"/>
                </a:solidFill>
              </a:rPr>
              <a:t>1</a:t>
            </a:r>
            <a:r>
              <a:rPr lang="en-US" sz="2800" dirty="0">
                <a:solidFill>
                  <a:srgbClr val="002060"/>
                </a:solidFill>
              </a:rPr>
              <a:t> </a:t>
            </a:r>
            <a:r>
              <a:rPr lang="en-US" sz="2800" dirty="0">
                <a:solidFill>
                  <a:srgbClr val="002060"/>
                </a:solidFill>
                <a:sym typeface="Symbol"/>
              </a:rPr>
              <a:t> </a:t>
            </a:r>
            <a:r>
              <a:rPr lang="en-US" sz="2800" dirty="0">
                <a:solidFill>
                  <a:srgbClr val="002060"/>
                </a:solidFill>
              </a:rPr>
              <a:t>C</a:t>
            </a:r>
            <a:r>
              <a:rPr lang="en-US" sz="2800" baseline="-25000" dirty="0">
                <a:solidFill>
                  <a:srgbClr val="002060"/>
                </a:solidFill>
              </a:rPr>
              <a:t>2</a:t>
            </a:r>
            <a:r>
              <a:rPr lang="en-US" sz="2800" dirty="0">
                <a:solidFill>
                  <a:srgbClr val="002060"/>
                </a:solidFill>
              </a:rPr>
              <a:t> </a:t>
            </a:r>
            <a:r>
              <a:rPr lang="en-US" sz="2800" dirty="0">
                <a:solidFill>
                  <a:srgbClr val="002060"/>
                </a:solidFill>
                <a:sym typeface="Symbol"/>
              </a:rPr>
              <a:t></a:t>
            </a:r>
            <a:r>
              <a:rPr lang="en-US" sz="2800" dirty="0">
                <a:solidFill>
                  <a:srgbClr val="002060"/>
                </a:solidFill>
              </a:rPr>
              <a:t> … </a:t>
            </a:r>
            <a:r>
              <a:rPr lang="en-US" sz="2800" dirty="0">
                <a:solidFill>
                  <a:srgbClr val="002060"/>
                </a:solidFill>
                <a:sym typeface="Symbol"/>
              </a:rPr>
              <a:t> </a:t>
            </a:r>
            <a:r>
              <a:rPr lang="en-US" sz="2800" dirty="0">
                <a:solidFill>
                  <a:srgbClr val="002060"/>
                </a:solidFill>
              </a:rPr>
              <a:t>C</a:t>
            </a:r>
            <a:r>
              <a:rPr lang="en-US" sz="2800" baseline="-25000" dirty="0">
                <a:solidFill>
                  <a:srgbClr val="002060"/>
                </a:solidFill>
              </a:rPr>
              <a:t>m </a:t>
            </a:r>
            <a:r>
              <a:rPr lang="en-US" sz="2800" dirty="0">
                <a:solidFill>
                  <a:srgbClr val="002060"/>
                </a:solidFill>
              </a:rPr>
              <a:t>, where </a:t>
            </a:r>
            <a:r>
              <a:rPr lang="en-US" sz="2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each clause C</a:t>
            </a:r>
            <a:r>
              <a:rPr lang="en-US" sz="2800" baseline="-25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i</a:t>
            </a:r>
            <a:r>
              <a:rPr lang="en-US" sz="2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 has the form </a:t>
            </a:r>
            <a:r>
              <a:rPr lang="en-US" sz="2800" dirty="0">
                <a:solidFill>
                  <a:srgbClr val="0070C0"/>
                </a:solidFill>
              </a:rPr>
              <a:t>{y</a:t>
            </a:r>
            <a:r>
              <a:rPr lang="en-US" sz="2800" baseline="-25000" dirty="0">
                <a:solidFill>
                  <a:srgbClr val="0070C0"/>
                </a:solidFill>
              </a:rPr>
              <a:t>1</a:t>
            </a:r>
            <a:r>
              <a:rPr lang="en-US" sz="2800" dirty="0">
                <a:solidFill>
                  <a:srgbClr val="0070C0"/>
                </a:solidFill>
              </a:rPr>
              <a:t> </a:t>
            </a:r>
            <a:r>
              <a:rPr lang="en-US" sz="2800" dirty="0">
                <a:solidFill>
                  <a:srgbClr val="0070C0"/>
                </a:solidFill>
                <a:sym typeface="Symbol"/>
              </a:rPr>
              <a:t></a:t>
            </a:r>
            <a:r>
              <a:rPr lang="en-US" sz="2800" dirty="0">
                <a:solidFill>
                  <a:srgbClr val="0070C0"/>
                </a:solidFill>
              </a:rPr>
              <a:t> y</a:t>
            </a:r>
            <a:r>
              <a:rPr lang="en-US" sz="2800" baseline="-25000" dirty="0">
                <a:solidFill>
                  <a:srgbClr val="0070C0"/>
                </a:solidFill>
              </a:rPr>
              <a:t>2</a:t>
            </a:r>
            <a:r>
              <a:rPr lang="en-US" sz="2800" dirty="0">
                <a:solidFill>
                  <a:srgbClr val="0070C0"/>
                </a:solidFill>
              </a:rPr>
              <a:t> </a:t>
            </a:r>
            <a:r>
              <a:rPr lang="en-US" sz="2800" dirty="0">
                <a:solidFill>
                  <a:srgbClr val="0070C0"/>
                </a:solidFill>
                <a:sym typeface="Symbol"/>
              </a:rPr>
              <a:t></a:t>
            </a:r>
            <a:r>
              <a:rPr lang="en-US" sz="2800" dirty="0">
                <a:solidFill>
                  <a:srgbClr val="0070C0"/>
                </a:solidFill>
              </a:rPr>
              <a:t> … </a:t>
            </a:r>
            <a:r>
              <a:rPr lang="en-US" sz="2800" dirty="0">
                <a:solidFill>
                  <a:srgbClr val="0070C0"/>
                </a:solidFill>
                <a:sym typeface="Symbol"/>
              </a:rPr>
              <a:t></a:t>
            </a:r>
            <a:r>
              <a:rPr lang="en-US" sz="2800" dirty="0">
                <a:solidFill>
                  <a:srgbClr val="0070C0"/>
                </a:solidFill>
              </a:rPr>
              <a:t> </a:t>
            </a:r>
            <a:r>
              <a:rPr lang="en-US" sz="2800" dirty="0" err="1">
                <a:solidFill>
                  <a:srgbClr val="0070C0"/>
                </a:solidFill>
              </a:rPr>
              <a:t>y</a:t>
            </a:r>
            <a:r>
              <a:rPr lang="en-US" sz="2800" baseline="-25000" dirty="0" err="1">
                <a:solidFill>
                  <a:srgbClr val="0070C0"/>
                </a:solidFill>
              </a:rPr>
              <a:t>k</a:t>
            </a:r>
            <a:r>
              <a:rPr lang="en-US" sz="2800" dirty="0">
                <a:solidFill>
                  <a:srgbClr val="0070C0"/>
                </a:solidFill>
              </a:rPr>
              <a:t>} </a:t>
            </a:r>
            <a:r>
              <a:rPr lang="en-US" sz="2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and </a:t>
            </a:r>
            <a:r>
              <a:rPr lang="en-US" sz="2800" dirty="0">
                <a:solidFill>
                  <a:srgbClr val="000000">
                    <a:lumMod val="75000"/>
                    <a:lumOff val="25000"/>
                  </a:srgbClr>
                </a:solidFill>
                <a:sym typeface="Symbol"/>
              </a:rPr>
              <a:t></a:t>
            </a:r>
            <a:r>
              <a:rPr lang="en-US" sz="2800" dirty="0" err="1">
                <a:solidFill>
                  <a:srgbClr val="000000">
                    <a:lumMod val="75000"/>
                    <a:lumOff val="25000"/>
                  </a:srgbClr>
                </a:solidFill>
                <a:sym typeface="Symbol"/>
              </a:rPr>
              <a:t>i</a:t>
            </a:r>
            <a:r>
              <a:rPr lang="en-US" sz="2800" dirty="0">
                <a:solidFill>
                  <a:srgbClr val="000000">
                    <a:lumMod val="75000"/>
                    <a:lumOff val="25000"/>
                  </a:srgbClr>
                </a:solidFill>
                <a:sym typeface="Symbol"/>
              </a:rPr>
              <a:t>, </a:t>
            </a:r>
            <a:r>
              <a:rPr lang="en-US" sz="2800" dirty="0" err="1">
                <a:solidFill>
                  <a:srgbClr val="000000">
                    <a:lumMod val="75000"/>
                    <a:lumOff val="25000"/>
                  </a:srgbClr>
                </a:solidFill>
              </a:rPr>
              <a:t>y</a:t>
            </a:r>
            <a:r>
              <a:rPr lang="en-US" sz="2800" baseline="-25000" dirty="0" err="1">
                <a:solidFill>
                  <a:srgbClr val="000000">
                    <a:lumMod val="75000"/>
                    <a:lumOff val="25000"/>
                  </a:srgbClr>
                </a:solidFill>
              </a:rPr>
              <a:t>i</a:t>
            </a:r>
            <a:r>
              <a:rPr lang="en-US" sz="2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 is either </a:t>
            </a:r>
            <a:r>
              <a:rPr lang="en-US" sz="2800" dirty="0" err="1">
                <a:solidFill>
                  <a:srgbClr val="000000">
                    <a:lumMod val="75000"/>
                    <a:lumOff val="25000"/>
                  </a:srgbClr>
                </a:solidFill>
              </a:rPr>
              <a:t>x</a:t>
            </a:r>
            <a:r>
              <a:rPr lang="en-US" sz="2800" baseline="-25000" dirty="0" err="1">
                <a:solidFill>
                  <a:srgbClr val="000000">
                    <a:lumMod val="75000"/>
                    <a:lumOff val="25000"/>
                  </a:srgbClr>
                </a:solidFill>
              </a:rPr>
              <a:t>t</a:t>
            </a:r>
            <a:r>
              <a:rPr lang="en-US" sz="2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 or </a:t>
            </a:r>
            <a:r>
              <a:rPr lang="en-US" sz="2800" dirty="0">
                <a:solidFill>
                  <a:srgbClr val="000000">
                    <a:lumMod val="75000"/>
                    <a:lumOff val="25000"/>
                  </a:srgbClr>
                </a:solidFill>
                <a:sym typeface="Symbol"/>
              </a:rPr>
              <a:t></a:t>
            </a:r>
            <a:r>
              <a:rPr lang="en-US" sz="2800" dirty="0" err="1">
                <a:solidFill>
                  <a:srgbClr val="000000">
                    <a:lumMod val="75000"/>
                    <a:lumOff val="25000"/>
                  </a:srgbClr>
                </a:solidFill>
              </a:rPr>
              <a:t>x</a:t>
            </a:r>
            <a:r>
              <a:rPr lang="en-US" sz="2800" baseline="-25000" dirty="0" err="1">
                <a:solidFill>
                  <a:srgbClr val="000000">
                    <a:lumMod val="75000"/>
                    <a:lumOff val="25000"/>
                  </a:srgbClr>
                </a:solidFill>
              </a:rPr>
              <a:t>t</a:t>
            </a:r>
            <a:r>
              <a:rPr lang="en-US" sz="2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 for some t.</a:t>
            </a:r>
          </a:p>
          <a:p>
            <a:pPr marL="91440" lvl="0" indent="-91440" defTabSz="914400">
              <a:lnSpc>
                <a:spcPct val="90000"/>
              </a:lnSpc>
              <a:spcBef>
                <a:spcPts val="1200"/>
              </a:spcBef>
              <a:buClr>
                <a:srgbClr val="E48312"/>
              </a:buClr>
              <a:buSzPct val="100000"/>
              <a:defRPr/>
            </a:pPr>
            <a:r>
              <a:rPr lang="en-US" sz="2800" i="1" dirty="0">
                <a:solidFill>
                  <a:srgbClr val="FF0000"/>
                </a:solidFill>
              </a:rPr>
              <a:t>Output</a:t>
            </a:r>
            <a:r>
              <a:rPr lang="en-US" sz="2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: </a:t>
            </a:r>
            <a:r>
              <a:rPr lang="en-US" sz="2800" b="1" dirty="0">
                <a:solidFill>
                  <a:srgbClr val="000000">
                    <a:lumMod val="75000"/>
                    <a:lumOff val="25000"/>
                  </a:srgbClr>
                </a:solidFill>
              </a:rPr>
              <a:t>YES</a:t>
            </a:r>
            <a:r>
              <a:rPr lang="en-US" sz="2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 if there is a Boolean assignment to {x</a:t>
            </a:r>
            <a:r>
              <a:rPr lang="en-US" sz="2800" baseline="-25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1</a:t>
            </a:r>
            <a:r>
              <a:rPr lang="en-US" sz="2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,…,</a:t>
            </a:r>
            <a:r>
              <a:rPr lang="en-US" sz="2800" dirty="0" err="1">
                <a:solidFill>
                  <a:srgbClr val="000000">
                    <a:lumMod val="75000"/>
                    <a:lumOff val="25000"/>
                  </a:srgbClr>
                </a:solidFill>
              </a:rPr>
              <a:t>x</a:t>
            </a:r>
            <a:r>
              <a:rPr lang="en-US" sz="2800" baseline="-25000" dirty="0" err="1">
                <a:solidFill>
                  <a:srgbClr val="000000">
                    <a:lumMod val="75000"/>
                    <a:lumOff val="25000"/>
                  </a:srgbClr>
                </a:solidFill>
              </a:rPr>
              <a:t>n</a:t>
            </a:r>
            <a:r>
              <a:rPr lang="en-US" sz="2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} that satisfies all the clauses, or </a:t>
            </a:r>
            <a:r>
              <a:rPr lang="en-US" sz="2800" b="1" dirty="0">
                <a:solidFill>
                  <a:srgbClr val="000000">
                    <a:lumMod val="75000"/>
                    <a:lumOff val="25000"/>
                  </a:srgbClr>
                </a:solidFill>
              </a:rPr>
              <a:t>NO</a:t>
            </a:r>
            <a:r>
              <a:rPr lang="en-US" sz="2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 if the formula is not satisfiable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54D3099-8BB4-438F-AFC7-0B69137D57BE}"/>
                  </a:ext>
                </a:extLst>
              </p:cNvPr>
              <p:cNvSpPr txBox="1"/>
              <p:nvPr/>
            </p:nvSpPr>
            <p:spPr>
              <a:xfrm>
                <a:off x="7813965" y="644361"/>
                <a:ext cx="4378035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rgbClr val="0070C0"/>
                    </a:solidFill>
                  </a:rPr>
                  <a:t>E.g.</a:t>
                </a:r>
              </a:p>
              <a:p>
                <a:pPr/>
                <a:r>
                  <a:rPr lang="en-US" sz="2000" b="0" dirty="0">
                    <a:solidFill>
                      <a:srgbClr val="0070C0"/>
                    </a:solidFill>
                  </a:rPr>
                  <a:t>F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∨¬</m:t>
                        </m:r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∨</m:t>
                        </m:r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∧(¬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∨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∨¬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54D3099-8BB4-438F-AFC7-0B69137D57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3965" y="644361"/>
                <a:ext cx="4378035" cy="707886"/>
              </a:xfrm>
              <a:prstGeom prst="rect">
                <a:avLst/>
              </a:prstGeom>
              <a:blipFill>
                <a:blip r:embed="rId4"/>
                <a:stretch>
                  <a:fillRect l="-1532" t="-5172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Speech Bubble: Rectangle with Corners Rounded 1">
                <a:extLst>
                  <a:ext uri="{FF2B5EF4-FFF2-40B4-BE49-F238E27FC236}">
                    <a16:creationId xmlns:a16="http://schemas.microsoft.com/office/drawing/2014/main" id="{E1BF894F-1889-E21B-D7DC-E77375BCD298}"/>
                  </a:ext>
                </a:extLst>
              </p:cNvPr>
              <p:cNvSpPr/>
              <p:nvPr/>
            </p:nvSpPr>
            <p:spPr>
              <a:xfrm>
                <a:off x="7656946" y="1542473"/>
                <a:ext cx="2826328" cy="422128"/>
              </a:xfrm>
              <a:prstGeom prst="wedgeRoundRectCallout">
                <a:avLst>
                  <a:gd name="adj1" fmla="val 37762"/>
                  <a:gd name="adj2" fmla="val 88757"/>
                  <a:gd name="adj3" fmla="val 16667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at most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clauses</a:t>
                </a:r>
              </a:p>
            </p:txBody>
          </p:sp>
        </mc:Choice>
        <mc:Fallback>
          <p:sp>
            <p:nvSpPr>
              <p:cNvPr id="2" name="Speech Bubble: Rectangle with Corners Rounded 1">
                <a:extLst>
                  <a:ext uri="{FF2B5EF4-FFF2-40B4-BE49-F238E27FC236}">
                    <a16:creationId xmlns:a16="http://schemas.microsoft.com/office/drawing/2014/main" id="{E1BF894F-1889-E21B-D7DC-E77375BCD2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6946" y="1542473"/>
                <a:ext cx="2826328" cy="422128"/>
              </a:xfrm>
              <a:prstGeom prst="wedgeRoundRectCallout">
                <a:avLst>
                  <a:gd name="adj1" fmla="val 37762"/>
                  <a:gd name="adj2" fmla="val 88757"/>
                  <a:gd name="adj3" fmla="val 16667"/>
                </a:avLst>
              </a:prstGeom>
              <a:blipFill>
                <a:blip r:embed="rId5"/>
                <a:stretch>
                  <a:fillRect l="-642" r="-4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E45C03E-BDFE-434B-9E34-65F91810B7A6}"/>
              </a:ext>
            </a:extLst>
          </p:cNvPr>
          <p:cNvSpPr/>
          <p:nvPr/>
        </p:nvSpPr>
        <p:spPr>
          <a:xfrm>
            <a:off x="1501254" y="1758661"/>
            <a:ext cx="9056055" cy="231724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1645084" y="233912"/>
            <a:ext cx="9448486" cy="1425370"/>
          </a:xfrm>
        </p:spPr>
        <p:txBody>
          <a:bodyPr>
            <a:normAutofit/>
          </a:bodyPr>
          <a:lstStyle/>
          <a:p>
            <a:r>
              <a:rPr lang="en-US" dirty="0"/>
              <a:t>Another Hard problem: Edit Distance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599399" y="1792190"/>
                <a:ext cx="8915400" cy="4366514"/>
              </a:xfrm>
            </p:spPr>
            <p:txBody>
              <a:bodyPr rtlCol="0">
                <a:normAutofit/>
              </a:bodyPr>
              <a:lstStyle/>
              <a:p>
                <a:pPr fontAlgn="auto">
                  <a:spcAft>
                    <a:spcPts val="0"/>
                  </a:spcAft>
                  <a:buFont typeface="Wingdings 3" charset="2"/>
                  <a:buNone/>
                  <a:defRPr/>
                </a:pPr>
                <a:r>
                  <a:rPr 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Given two strings 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letters</a:t>
                </a:r>
              </a:p>
              <a:p>
                <a:pPr fontAlgn="auto">
                  <a:spcAft>
                    <a:spcPts val="0"/>
                  </a:spcAft>
                  <a:buFont typeface="Wingdings 3" charset="2"/>
                  <a:buNone/>
                  <a:defRPr/>
                </a:pPr>
                <a:endParaRPr 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  <a:p>
                <a:pPr fontAlgn="auto">
                  <a:spcAft>
                    <a:spcPts val="0"/>
                  </a:spcAft>
                  <a:buFont typeface="Wingdings 3" charset="2"/>
                  <a:buNone/>
                  <a:defRPr/>
                </a:pPr>
                <a:endParaRPr 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  <a:p>
                <a:pPr fontAlgn="auto">
                  <a:spcAft>
                    <a:spcPts val="0"/>
                  </a:spcAft>
                  <a:buFont typeface="Wingdings 3" charset="2"/>
                  <a:buNone/>
                  <a:defRPr/>
                </a:pPr>
                <a:r>
                  <a:rPr 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How many edits (insertions/deletions/substitutions) are needed to transform the first string into the second?</a:t>
                </a:r>
              </a:p>
              <a:p>
                <a:pPr fontAlgn="auto">
                  <a:spcAft>
                    <a:spcPts val="0"/>
                  </a:spcAft>
                  <a:buFont typeface="Wingdings 3" charset="2"/>
                  <a:buNone/>
                  <a:defRPr/>
                </a:pPr>
                <a:endPara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  <a:p>
                <a:pPr fontAlgn="auto">
                  <a:spcAft>
                    <a:spcPts val="0"/>
                  </a:spcAft>
                  <a:buFont typeface="Wingdings 3" charset="2"/>
                  <a:buNone/>
                  <a:defRPr/>
                </a:pPr>
                <a:r>
                  <a:rPr 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Applications both in </a:t>
                </a:r>
                <a:r>
                  <a:rPr lang="en-US" sz="2400" dirty="0">
                    <a:solidFill>
                      <a:srgbClr val="0070C0"/>
                    </a:solidFill>
                  </a:rPr>
                  <a:t>computational biology </a:t>
                </a:r>
                <a:r>
                  <a:rPr 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and in </a:t>
                </a:r>
                <a:r>
                  <a:rPr lang="en-US" sz="2400" dirty="0">
                    <a:solidFill>
                      <a:srgbClr val="0070C0"/>
                    </a:solidFill>
                  </a:rPr>
                  <a:t>spellcheckers</a:t>
                </a:r>
                <a:r>
                  <a:rPr 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.</a:t>
                </a:r>
              </a:p>
              <a:p>
                <a:pPr fontAlgn="auto">
                  <a:spcAft>
                    <a:spcPts val="0"/>
                  </a:spcAft>
                  <a:buFont typeface="Wingdings 3" charset="2"/>
                  <a:buNone/>
                  <a:defRPr/>
                </a:pPr>
                <a:endParaRPr 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599399" y="1792190"/>
                <a:ext cx="8915400" cy="4366514"/>
              </a:xfrm>
              <a:blipFill>
                <a:blip r:embed="rId3"/>
                <a:stretch>
                  <a:fillRect l="-2051" t="-19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humangenome.jp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436100" y="4795288"/>
            <a:ext cx="27559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 descr="dna.png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 rot="4525954">
            <a:off x="443339" y="4328911"/>
            <a:ext cx="1760538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2539708" y="4795288"/>
            <a:ext cx="4751622" cy="8361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defTabSz="457200" fontAlgn="auto"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defRPr/>
            </a:pPr>
            <a:r>
              <a:rPr lang="en-US" sz="2000" dirty="0">
                <a:latin typeface="Century Gothic"/>
                <a:cs typeface="+mn-cs"/>
              </a:rPr>
              <a:t>Solved daily on huge strings!</a:t>
            </a:r>
            <a:endParaRPr lang="en-US" sz="2000" dirty="0">
              <a:latin typeface="+mn-lt"/>
              <a:cs typeface="+mn-cs"/>
            </a:endParaRPr>
          </a:p>
          <a:p>
            <a:pPr marL="342900" indent="-342900" defTabSz="457200" fontAlgn="auto"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defRPr/>
            </a:pPr>
            <a:r>
              <a:rPr lang="en-US" sz="2000" dirty="0">
                <a:latin typeface="+mn-lt"/>
                <a:cs typeface="+mn-cs"/>
              </a:rPr>
              <a:t>(</a:t>
            </a:r>
            <a:r>
              <a:rPr lang="en-US" sz="2000" dirty="0">
                <a:latin typeface="+mn-lt"/>
              </a:rPr>
              <a:t>Human genome: 3 x 10</a:t>
            </a:r>
            <a:r>
              <a:rPr lang="en-US" sz="2000" baseline="30000" dirty="0">
                <a:latin typeface="+mn-lt"/>
              </a:rPr>
              <a:t>9</a:t>
            </a:r>
            <a:r>
              <a:rPr lang="en-US" sz="2000" dirty="0">
                <a:latin typeface="+mn-lt"/>
              </a:rPr>
              <a:t> base pairs.</a:t>
            </a:r>
            <a:r>
              <a:rPr lang="en-US" sz="2000" dirty="0">
                <a:latin typeface="+mn-lt"/>
                <a:cs typeface="+mn-cs"/>
              </a:rPr>
              <a:t>)</a:t>
            </a:r>
            <a:endParaRPr lang="en-US" sz="2000" dirty="0">
              <a:latin typeface="+mn-l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858851" y="2147333"/>
            <a:ext cx="6096000" cy="99617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28600" lvl="0" indent="-228600" algn="ctr" defTabSz="914400"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sz="3200" b="1" dirty="0">
                <a:solidFill>
                  <a:srgbClr val="0070C0"/>
                </a:solidFill>
              </a:rPr>
              <a:t>AT</a:t>
            </a:r>
            <a:r>
              <a:rPr lang="en-US" sz="3200" dirty="0">
                <a:solidFill>
                  <a:srgbClr val="FF0000"/>
                </a:solidFill>
              </a:rPr>
              <a:t>C</a:t>
            </a:r>
            <a:r>
              <a:rPr lang="en-US" sz="3200" b="1" dirty="0">
                <a:solidFill>
                  <a:srgbClr val="0070C0"/>
                </a:solidFill>
              </a:rPr>
              <a:t>GG</a:t>
            </a:r>
            <a:r>
              <a:rPr lang="en-US" sz="3200" dirty="0">
                <a:solidFill>
                  <a:srgbClr val="FF0000"/>
                </a:solidFill>
              </a:rPr>
              <a:t>G</a:t>
            </a:r>
            <a:r>
              <a:rPr lang="en-US" sz="3200" b="1" dirty="0">
                <a:solidFill>
                  <a:srgbClr val="0070C0"/>
                </a:solidFill>
              </a:rPr>
              <a:t>T</a:t>
            </a:r>
            <a:r>
              <a:rPr lang="en-US" sz="3200" dirty="0">
                <a:solidFill>
                  <a:srgbClr val="FF0000"/>
                </a:solidFill>
              </a:rPr>
              <a:t>T</a:t>
            </a:r>
            <a:r>
              <a:rPr lang="en-US" sz="3200" b="1" dirty="0">
                <a:solidFill>
                  <a:srgbClr val="0070C0"/>
                </a:solidFill>
              </a:rPr>
              <a:t>CCTT</a:t>
            </a:r>
            <a:r>
              <a:rPr lang="en-US" sz="3200" dirty="0">
                <a:solidFill>
                  <a:srgbClr val="FF0000"/>
                </a:solidFill>
              </a:rPr>
              <a:t>A</a:t>
            </a:r>
            <a:r>
              <a:rPr lang="en-US" sz="3200" b="1" dirty="0">
                <a:solidFill>
                  <a:srgbClr val="0070C0"/>
                </a:solidFill>
              </a:rPr>
              <a:t>A</a:t>
            </a:r>
            <a:r>
              <a:rPr lang="en-US" sz="3200" dirty="0">
                <a:solidFill>
                  <a:srgbClr val="FF0000"/>
                </a:solidFill>
              </a:rPr>
              <a:t>G</a:t>
            </a:r>
            <a:r>
              <a:rPr lang="en-US" sz="3200" b="1" dirty="0">
                <a:solidFill>
                  <a:srgbClr val="0070C0"/>
                </a:solidFill>
              </a:rPr>
              <a:t>GG</a:t>
            </a:r>
          </a:p>
          <a:p>
            <a:pPr marL="228600" lvl="0" indent="-228600" algn="ctr" defTabSz="914400"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sz="3200" b="1" dirty="0">
                <a:solidFill>
                  <a:srgbClr val="0070C0"/>
                </a:solidFill>
              </a:rPr>
              <a:t>AT </a:t>
            </a:r>
            <a:r>
              <a:rPr lang="en-US" sz="3200" dirty="0">
                <a:solidFill>
                  <a:srgbClr val="FF0000"/>
                </a:solidFill>
              </a:rPr>
              <a:t>T </a:t>
            </a:r>
            <a:r>
              <a:rPr lang="en-US" sz="3200" b="1" dirty="0">
                <a:solidFill>
                  <a:srgbClr val="0070C0"/>
                </a:solidFill>
              </a:rPr>
              <a:t>GG</a:t>
            </a:r>
            <a:r>
              <a:rPr lang="en-US" sz="3200" dirty="0">
                <a:solidFill>
                  <a:srgbClr val="FF0000"/>
                </a:solidFill>
              </a:rPr>
              <a:t>_</a:t>
            </a:r>
            <a:r>
              <a:rPr lang="en-US" sz="3200" b="1" dirty="0">
                <a:solidFill>
                  <a:srgbClr val="0070C0"/>
                </a:solidFill>
              </a:rPr>
              <a:t>T</a:t>
            </a:r>
            <a:r>
              <a:rPr lang="en-US" sz="3200" dirty="0">
                <a:solidFill>
                  <a:srgbClr val="FF0000"/>
                </a:solidFill>
              </a:rPr>
              <a:t>A</a:t>
            </a:r>
            <a:r>
              <a:rPr lang="en-US" sz="3200" b="1" dirty="0">
                <a:solidFill>
                  <a:srgbClr val="0070C0"/>
                </a:solidFill>
              </a:rPr>
              <a:t>CCTT</a:t>
            </a:r>
            <a:r>
              <a:rPr lang="en-US" sz="3200" dirty="0">
                <a:solidFill>
                  <a:srgbClr val="FF0000"/>
                </a:solidFill>
              </a:rPr>
              <a:t>C</a:t>
            </a:r>
            <a:r>
              <a:rPr lang="en-US" sz="3200" b="1" dirty="0">
                <a:solidFill>
                  <a:srgbClr val="0070C0"/>
                </a:solidFill>
              </a:rPr>
              <a:t>A</a:t>
            </a:r>
            <a:r>
              <a:rPr lang="en-US" sz="3200" dirty="0">
                <a:solidFill>
                  <a:srgbClr val="FF0000"/>
                </a:solidFill>
              </a:rPr>
              <a:t>_</a:t>
            </a:r>
            <a:r>
              <a:rPr lang="en-US" sz="3200" b="1" dirty="0">
                <a:solidFill>
                  <a:srgbClr val="0070C0"/>
                </a:solidFill>
              </a:rPr>
              <a:t>GG</a:t>
            </a:r>
          </a:p>
        </p:txBody>
      </p:sp>
      <p:sp>
        <p:nvSpPr>
          <p:cNvPr id="8" name="Rectangle 7"/>
          <p:cNvSpPr/>
          <p:nvPr/>
        </p:nvSpPr>
        <p:spPr>
          <a:xfrm>
            <a:off x="2850372" y="2147195"/>
            <a:ext cx="6096000" cy="110697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28600" lvl="0" indent="-228600" algn="ctr" defTabSz="914400"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sz="3200" dirty="0">
                <a:solidFill>
                  <a:srgbClr val="0070C0"/>
                </a:solidFill>
              </a:rPr>
              <a:t>ATCGGGTTCCTTAAGGG</a:t>
            </a:r>
          </a:p>
          <a:p>
            <a:pPr marL="228600" lvl="0" indent="-228600" algn="ctr" defTabSz="914400"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sz="3200" dirty="0">
                <a:solidFill>
                  <a:srgbClr val="0070C0"/>
                </a:solidFill>
              </a:rPr>
              <a:t>ATTGGTACCTTCAGG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8359729" y="1828800"/>
                <a:ext cx="3778155" cy="2075568"/>
              </a:xfrm>
              <a:prstGeom prst="rect">
                <a:avLst/>
              </a:prstGeom>
              <a:solidFill>
                <a:srgbClr val="C00000"/>
              </a:solidFill>
            </p:spPr>
            <p:txBody>
              <a:bodyPr wrap="square" rtlCol="0">
                <a:spAutoFit/>
              </a:bodyPr>
              <a:lstStyle/>
              <a:p>
                <a:pPr marL="342900" lvl="0" indent="-342900">
                  <a:spcBef>
                    <a:spcPts val="1000"/>
                  </a:spcBef>
                  <a:buClr>
                    <a:srgbClr val="A53010"/>
                  </a:buClr>
                  <a:defRPr/>
                </a:pPr>
                <a:r>
                  <a:rPr lang="en-US" sz="2400" b="1" dirty="0">
                    <a:solidFill>
                      <a:schemeClr val="bg1"/>
                    </a:solidFill>
                  </a:rPr>
                  <a:t>Algorithms:</a:t>
                </a:r>
              </a:p>
              <a:p>
                <a:pPr marL="342900" lvl="0" indent="-342900">
                  <a:spcBef>
                    <a:spcPts val="1000"/>
                  </a:spcBef>
                  <a:buClr>
                    <a:srgbClr val="A53010"/>
                  </a:buClr>
                  <a:defRPr/>
                </a:pPr>
                <a:r>
                  <a:rPr lang="en-US" sz="2400" dirty="0">
                    <a:solidFill>
                      <a:schemeClr val="bg1"/>
                    </a:solidFill>
                  </a:rPr>
                  <a:t>Textbook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sz="24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US" sz="24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24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>
                    <a:solidFill>
                      <a:schemeClr val="bg1"/>
                    </a:solidFill>
                  </a:rPr>
                  <a:t>time</a:t>
                </a:r>
              </a:p>
              <a:p>
                <a:endParaRPr lang="en-US" sz="2400" dirty="0"/>
              </a:p>
              <a:p>
                <a:r>
                  <a:rPr lang="en-US" sz="2400" dirty="0">
                    <a:solidFill>
                      <a:schemeClr val="bg1"/>
                    </a:solidFill>
                  </a:rPr>
                  <a:t>Best algorithm:</a:t>
                </a: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b="0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 </a:t>
                </a:r>
                <a:r>
                  <a:rPr lang="en-US" sz="2400" dirty="0">
                    <a:solidFill>
                      <a:srgbClr val="FFC000"/>
                    </a:solidFill>
                  </a:rPr>
                  <a:t>/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US" sz="24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func>
                    <m:r>
                      <a:rPr lang="en-US" sz="2400" b="0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FFC000"/>
                    </a:solidFill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</a:rPr>
                  <a:t>time [MP’80]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9729" y="1828800"/>
                <a:ext cx="3778155" cy="2075568"/>
              </a:xfrm>
              <a:prstGeom prst="rect">
                <a:avLst/>
              </a:prstGeom>
              <a:blipFill>
                <a:blip r:embed="rId6"/>
                <a:stretch>
                  <a:fillRect l="-2419" t="-2353" r="-2258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 rot="21056863">
            <a:off x="167738" y="608875"/>
            <a:ext cx="2460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 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598A5C-FE35-8B1D-028F-911CEB365ADB}"/>
              </a:ext>
            </a:extLst>
          </p:cNvPr>
          <p:cNvSpPr txBox="1"/>
          <p:nvPr/>
        </p:nvSpPr>
        <p:spPr>
          <a:xfrm>
            <a:off x="4022071" y="417620"/>
            <a:ext cx="9291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???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9E0B30-05B3-8AB9-2716-D8C7B66130B4}"/>
              </a:ext>
            </a:extLst>
          </p:cNvPr>
          <p:cNvSpPr txBox="1"/>
          <p:nvPr/>
        </p:nvSpPr>
        <p:spPr>
          <a:xfrm>
            <a:off x="6728059" y="186787"/>
            <a:ext cx="5309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(We use the standard word-RAM model)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 animBg="1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DD8DE5A-9375-C4A0-737B-C5007C704522}"/>
              </a:ext>
            </a:extLst>
          </p:cNvPr>
          <p:cNvSpPr/>
          <p:nvPr/>
        </p:nvSpPr>
        <p:spPr>
          <a:xfrm>
            <a:off x="378123" y="755121"/>
            <a:ext cx="6585202" cy="3197099"/>
          </a:xfrm>
          <a:prstGeom prst="round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0232C14-486D-E621-692D-27CD382E5915}"/>
              </a:ext>
            </a:extLst>
          </p:cNvPr>
          <p:cNvSpPr/>
          <p:nvPr/>
        </p:nvSpPr>
        <p:spPr>
          <a:xfrm>
            <a:off x="238661" y="603847"/>
            <a:ext cx="9767981" cy="3459195"/>
          </a:xfrm>
          <a:prstGeom prst="roundRect">
            <a:avLst/>
          </a:prstGeom>
          <a:noFill/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4395E7E-26E6-C06E-F0C4-8CC5BE8203E2}"/>
              </a:ext>
            </a:extLst>
          </p:cNvPr>
          <p:cNvSpPr/>
          <p:nvPr/>
        </p:nvSpPr>
        <p:spPr>
          <a:xfrm>
            <a:off x="103517" y="310550"/>
            <a:ext cx="10843403" cy="3899141"/>
          </a:xfrm>
          <a:prstGeom prst="roundRect">
            <a:avLst/>
          </a:prstGeom>
          <a:noFill/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B3E149B-822D-2BC4-E90F-6BF49F0690B5}"/>
              </a:ext>
            </a:extLst>
          </p:cNvPr>
          <p:cNvSpPr/>
          <p:nvPr/>
        </p:nvSpPr>
        <p:spPr>
          <a:xfrm>
            <a:off x="0" y="77638"/>
            <a:ext cx="11987844" cy="4261450"/>
          </a:xfrm>
          <a:prstGeom prst="roundRect">
            <a:avLst/>
          </a:prstGeom>
          <a:noFill/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FA9D74-4261-1AB5-5EA8-CAD70D4D4C0F}"/>
              </a:ext>
            </a:extLst>
          </p:cNvPr>
          <p:cNvSpPr txBox="1"/>
          <p:nvPr/>
        </p:nvSpPr>
        <p:spPr>
          <a:xfrm>
            <a:off x="5599981" y="674460"/>
            <a:ext cx="9920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/>
              <a:t>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4A5532-7D36-82B9-53B8-E26961865FF8}"/>
              </a:ext>
            </a:extLst>
          </p:cNvPr>
          <p:cNvSpPr txBox="1"/>
          <p:nvPr/>
        </p:nvSpPr>
        <p:spPr>
          <a:xfrm>
            <a:off x="8177123" y="576075"/>
            <a:ext cx="129827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/>
              <a:t>NP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ACFC17-6C87-E5D8-F562-74C2914645F1}"/>
              </a:ext>
            </a:extLst>
          </p:cNvPr>
          <p:cNvSpPr txBox="1"/>
          <p:nvPr/>
        </p:nvSpPr>
        <p:spPr>
          <a:xfrm>
            <a:off x="9675966" y="362949"/>
            <a:ext cx="12982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PSPACE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0D85E3-70D1-05D0-20F4-B7B946E791BD}"/>
              </a:ext>
            </a:extLst>
          </p:cNvPr>
          <p:cNvSpPr txBox="1"/>
          <p:nvPr/>
        </p:nvSpPr>
        <p:spPr>
          <a:xfrm>
            <a:off x="10974240" y="146705"/>
            <a:ext cx="12982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EXP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EDE506-4BD1-C2AE-FE6F-E542E9AD9161}"/>
              </a:ext>
            </a:extLst>
          </p:cNvPr>
          <p:cNvSpPr txBox="1"/>
          <p:nvPr/>
        </p:nvSpPr>
        <p:spPr>
          <a:xfrm>
            <a:off x="760396" y="3351537"/>
            <a:ext cx="58316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Poly time viewed as  “EFFICIENT/EASY”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B892A9-C131-D97F-4A2A-459324AB879F}"/>
              </a:ext>
            </a:extLst>
          </p:cNvPr>
          <p:cNvSpPr txBox="1"/>
          <p:nvPr/>
        </p:nvSpPr>
        <p:spPr>
          <a:xfrm>
            <a:off x="315583" y="4403415"/>
            <a:ext cx="733820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(Reasons: Composing two efficient algorithms results in an efficient algorithm. Also, model-independence.)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615F8C-CB73-65CB-212B-61281CB99F20}"/>
              </a:ext>
            </a:extLst>
          </p:cNvPr>
          <p:cNvSpPr txBox="1"/>
          <p:nvPr/>
        </p:nvSpPr>
        <p:spPr>
          <a:xfrm>
            <a:off x="7199109" y="1645285"/>
            <a:ext cx="178782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600" b="1" dirty="0">
                <a:solidFill>
                  <a:schemeClr val="accent6">
                    <a:lumMod val="50000"/>
                  </a:schemeClr>
                </a:solidFill>
              </a:rPr>
              <a:t>· </a:t>
            </a:r>
            <a:r>
              <a:rPr lang="en-US" sz="2600" b="1" dirty="0">
                <a:solidFill>
                  <a:schemeClr val="accent6">
                    <a:lumMod val="50000"/>
                  </a:schemeClr>
                </a:solidFill>
              </a:rPr>
              <a:t>k-SAT</a:t>
            </a:r>
            <a:endParaRPr lang="en-US" sz="26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9F986FF-F64D-ACE6-42C6-C02B136DB67F}"/>
              </a:ext>
            </a:extLst>
          </p:cNvPr>
          <p:cNvSpPr txBox="1"/>
          <p:nvPr/>
        </p:nvSpPr>
        <p:spPr>
          <a:xfrm>
            <a:off x="7372348" y="2296396"/>
            <a:ext cx="178782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600" b="1" dirty="0">
                <a:solidFill>
                  <a:schemeClr val="accent6">
                    <a:lumMod val="50000"/>
                  </a:schemeClr>
                </a:solidFill>
              </a:rPr>
              <a:t>· </a:t>
            </a:r>
            <a:r>
              <a:rPr lang="en-US" sz="2600" b="1" dirty="0">
                <a:solidFill>
                  <a:schemeClr val="accent6">
                    <a:lumMod val="50000"/>
                  </a:schemeClr>
                </a:solidFill>
              </a:rPr>
              <a:t>Clique</a:t>
            </a:r>
            <a:endParaRPr lang="en-US" sz="26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CDE0A0-01E5-CAB8-F470-EE79CFB49EC9}"/>
              </a:ext>
            </a:extLst>
          </p:cNvPr>
          <p:cNvSpPr txBox="1"/>
          <p:nvPr/>
        </p:nvSpPr>
        <p:spPr>
          <a:xfrm>
            <a:off x="7888141" y="2895932"/>
            <a:ext cx="178782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chemeClr val="accent6">
                    <a:lumMod val="50000"/>
                  </a:schemeClr>
                </a:solidFill>
              </a:rPr>
              <a:t>…</a:t>
            </a:r>
            <a:endParaRPr lang="en-US" sz="2600" dirty="0">
              <a:solidFill>
                <a:schemeClr val="accent6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9FE58E4-6538-9FC5-F5C0-6939CED41443}"/>
                  </a:ext>
                </a:extLst>
              </p:cNvPr>
              <p:cNvSpPr txBox="1"/>
              <p:nvPr/>
            </p:nvSpPr>
            <p:spPr>
              <a:xfrm>
                <a:off x="3819898" y="2029008"/>
                <a:ext cx="3157087" cy="892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600" b="1" dirty="0">
                    <a:solidFill>
                      <a:schemeClr val="accent6">
                        <a:lumMod val="50000"/>
                      </a:schemeClr>
                    </a:solidFill>
                  </a:rPr>
                  <a:t>· </a:t>
                </a:r>
                <a:r>
                  <a:rPr lang="en-US" sz="2600" b="1" dirty="0">
                    <a:solidFill>
                      <a:schemeClr val="accent6">
                        <a:lumMod val="50000"/>
                      </a:schemeClr>
                    </a:solidFill>
                  </a:rPr>
                  <a:t>Edit Distance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6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60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6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6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sz="2600" b="0" dirty="0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r>
                  <a:rPr lang="en-US" sz="2600" b="1" dirty="0">
                    <a:solidFill>
                      <a:schemeClr val="accent6">
                        <a:lumMod val="50000"/>
                      </a:schemeClr>
                    </a:solidFill>
                  </a:rPr>
                  <a:t>…</a:t>
                </a:r>
                <a:endParaRPr lang="en-US" sz="2600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9FE58E4-6538-9FC5-F5C0-6939CED414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9898" y="2029008"/>
                <a:ext cx="3157087" cy="892552"/>
              </a:xfrm>
              <a:prstGeom prst="rect">
                <a:avLst/>
              </a:prstGeom>
              <a:blipFill>
                <a:blip r:embed="rId3"/>
                <a:stretch>
                  <a:fillRect l="-3475" t="-5479" b="-171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828776CB-1EEA-6870-8FFE-3CD64F2DAE81}"/>
              </a:ext>
            </a:extLst>
          </p:cNvPr>
          <p:cNvSpPr txBox="1"/>
          <p:nvPr/>
        </p:nvSpPr>
        <p:spPr>
          <a:xfrm>
            <a:off x="315583" y="5327893"/>
            <a:ext cx="105687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However, no one would consider an O(n^100) time algorithm efficient in practice.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66906A9-F0B7-8F12-458D-709F9DBBEC2A}"/>
              </a:ext>
            </a:extLst>
          </p:cNvPr>
          <p:cNvSpPr txBox="1"/>
          <p:nvPr/>
        </p:nvSpPr>
        <p:spPr>
          <a:xfrm>
            <a:off x="315583" y="5521617"/>
            <a:ext cx="615494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000" dirty="0">
              <a:solidFill>
                <a:srgbClr val="C00000"/>
              </a:solidFill>
            </a:endParaRPr>
          </a:p>
          <a:p>
            <a:r>
              <a:rPr lang="en-US" sz="2000" dirty="0">
                <a:solidFill>
                  <a:srgbClr val="C00000"/>
                </a:solidFill>
              </a:rPr>
              <a:t>If n is huge, then O(n^2) is also inefficient.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6B5F99E-3AC0-2E84-6D3E-EB4096BF216F}"/>
              </a:ext>
            </a:extLst>
          </p:cNvPr>
          <p:cNvSpPr txBox="1"/>
          <p:nvPr/>
        </p:nvSpPr>
        <p:spPr>
          <a:xfrm>
            <a:off x="570170" y="1094006"/>
            <a:ext cx="3374623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600" b="1" dirty="0"/>
              <a:t>(almost-)Linear Time:</a:t>
            </a:r>
          </a:p>
          <a:p>
            <a:r>
              <a:rPr lang="en-US" altLang="zh-CN" sz="2600" b="1" dirty="0">
                <a:solidFill>
                  <a:schemeClr val="accent6">
                    <a:lumMod val="50000"/>
                  </a:schemeClr>
                </a:solidFill>
              </a:rPr>
              <a:t>· Graph BFS/DFS</a:t>
            </a:r>
          </a:p>
          <a:p>
            <a:r>
              <a:rPr lang="en-US" altLang="zh-CN" sz="2600" b="1" dirty="0">
                <a:solidFill>
                  <a:schemeClr val="accent6">
                    <a:lumMod val="50000"/>
                  </a:schemeClr>
                </a:solidFill>
              </a:rPr>
              <a:t>· Sorting</a:t>
            </a:r>
          </a:p>
          <a:p>
            <a:r>
              <a:rPr lang="en-US" altLang="zh-CN" sz="2600" b="1" dirty="0">
                <a:solidFill>
                  <a:schemeClr val="accent6">
                    <a:lumMod val="50000"/>
                  </a:schemeClr>
                </a:solidFill>
              </a:rPr>
              <a:t>· </a:t>
            </a:r>
            <a:r>
              <a:rPr lang="en-US" altLang="zh-CN" sz="2600" dirty="0">
                <a:solidFill>
                  <a:schemeClr val="accent6">
                    <a:lumMod val="50000"/>
                  </a:schemeClr>
                </a:solidFill>
              </a:rPr>
              <a:t>Max Flow</a:t>
            </a:r>
          </a:p>
          <a:p>
            <a:r>
              <a:rPr lang="en-US" sz="2600" b="1" dirty="0">
                <a:solidFill>
                  <a:schemeClr val="accent6">
                    <a:lumMod val="50000"/>
                  </a:schemeClr>
                </a:solidFill>
              </a:rPr>
              <a:t>     …</a:t>
            </a:r>
            <a:endParaRPr lang="en-US" sz="2600" dirty="0">
              <a:solidFill>
                <a:schemeClr val="accent6">
                  <a:lumMod val="50000"/>
                </a:schemeClr>
              </a:solidFill>
            </a:endParaRPr>
          </a:p>
          <a:p>
            <a:endParaRPr lang="en-US" sz="26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BAA7E6F-B1BE-1C2A-B14D-B8861BB51F12}"/>
              </a:ext>
            </a:extLst>
          </p:cNvPr>
          <p:cNvSpPr/>
          <p:nvPr/>
        </p:nvSpPr>
        <p:spPr>
          <a:xfrm>
            <a:off x="530522" y="1068442"/>
            <a:ext cx="3275716" cy="2153698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29" name="Arrow: Curved Down 28">
            <a:extLst>
              <a:ext uri="{FF2B5EF4-FFF2-40B4-BE49-F238E27FC236}">
                <a16:creationId xmlns:a16="http://schemas.microsoft.com/office/drawing/2014/main" id="{17DB6D66-C2F3-0B61-9C4D-6E8378BA9733}"/>
              </a:ext>
            </a:extLst>
          </p:cNvPr>
          <p:cNvSpPr/>
          <p:nvPr/>
        </p:nvSpPr>
        <p:spPr>
          <a:xfrm flipH="1">
            <a:off x="3393056" y="1663724"/>
            <a:ext cx="992036" cy="437270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6FFA39B-AB4B-148C-F300-4E72269BD5D3}"/>
              </a:ext>
            </a:extLst>
          </p:cNvPr>
          <p:cNvSpPr txBox="1"/>
          <p:nvPr/>
        </p:nvSpPr>
        <p:spPr>
          <a:xfrm>
            <a:off x="3998285" y="1312443"/>
            <a:ext cx="9291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???</a:t>
            </a:r>
          </a:p>
        </p:txBody>
      </p:sp>
    </p:spTree>
    <p:extLst>
      <p:ext uri="{BB962C8B-B14F-4D97-AF65-F5344CB8AC3E}">
        <p14:creationId xmlns:p14="http://schemas.microsoft.com/office/powerpoint/2010/main" val="3440484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24" grpId="0"/>
      <p:bldP spid="26" grpId="0"/>
      <p:bldP spid="27" grpId="0"/>
      <p:bldP spid="28" grpId="0" animBg="1"/>
      <p:bldP spid="29" grpId="0" animBg="1"/>
      <p:bldP spid="3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21BDEBC-A51B-6DAE-E271-1AFDF6A1ECC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We are stuck on many problems,</a:t>
                </a:r>
                <a:br>
                  <a:rPr lang="en-US" dirty="0"/>
                </a:br>
                <a:r>
                  <a:rPr lang="en-US" dirty="0"/>
                  <a:t>even just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time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21BDEBC-A51B-6DAE-E271-1AFDF6A1EC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727" t="-8403" b="-231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1064E4-851E-FFCB-561C-84F7556166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845734"/>
                <a:ext cx="11734800" cy="4023360"/>
              </a:xfrm>
            </p:spPr>
            <p:txBody>
              <a:bodyPr>
                <a:normAutofit/>
              </a:bodyPr>
              <a:lstStyle/>
              <a:p>
                <a:r>
                  <a:rPr lang="en-US" sz="2800" dirty="0"/>
                  <a:t>No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2−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sup>
                    </m:sSup>
                  </m:oMath>
                </a14:m>
                <a:r>
                  <a:rPr lang="en-US" sz="2800" dirty="0"/>
                  <a:t> time algorithms known for: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800" dirty="0"/>
                  <a:t> Many </a:t>
                </a:r>
                <a:r>
                  <a:rPr lang="en-US" sz="2800" dirty="0">
                    <a:solidFill>
                      <a:schemeClr val="accent3"/>
                    </a:solidFill>
                  </a:rPr>
                  <a:t>sequence-similarity</a:t>
                </a:r>
                <a:r>
                  <a:rPr lang="en-US" sz="2800" dirty="0"/>
                  <a:t> problems:</a:t>
                </a:r>
              </a:p>
              <a:p>
                <a:pPr lvl="1"/>
                <a:endParaRPr lang="en-US" sz="2200" dirty="0"/>
              </a:p>
              <a:p>
                <a:pPr lvl="1"/>
                <a:r>
                  <a:rPr lang="en-US" sz="2400" dirty="0"/>
                  <a:t>  Edit Distance, Longest Common Subsequence, Dynamic Time Warping Distance, …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1064E4-851E-FFCB-561C-84F7556166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845734"/>
                <a:ext cx="11734800" cy="4023360"/>
              </a:xfrm>
              <a:blipFill>
                <a:blip r:embed="rId3"/>
                <a:stretch>
                  <a:fillRect l="-1714" t="-2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919090DD-B67D-08C8-1A9D-8019E07A1E0F}"/>
              </a:ext>
            </a:extLst>
          </p:cNvPr>
          <p:cNvSpPr/>
          <p:nvPr/>
        </p:nvSpPr>
        <p:spPr>
          <a:xfrm>
            <a:off x="6126480" y="4041845"/>
            <a:ext cx="6096000" cy="885371"/>
          </a:xfrm>
          <a:prstGeom prst="rect">
            <a:avLst/>
          </a:prstGeom>
        </p:spPr>
        <p:txBody>
          <a:bodyPr>
            <a:spAutoFit/>
          </a:bodyPr>
          <a:lstStyle/>
          <a:p>
            <a:pPr marL="228600" lvl="0" indent="-228600" algn="ctr" defTabSz="914400"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sz="2400" dirty="0">
                <a:solidFill>
                  <a:schemeClr val="bg2">
                    <a:lumMod val="75000"/>
                  </a:schemeClr>
                </a:solidFill>
              </a:rPr>
              <a:t>ATCGGGTTCCTTAAGGG</a:t>
            </a:r>
          </a:p>
          <a:p>
            <a:pPr marL="228600" lvl="0" indent="-228600" algn="ctr" defTabSz="914400"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sz="2400" dirty="0">
                <a:solidFill>
                  <a:schemeClr val="bg2">
                    <a:lumMod val="75000"/>
                  </a:schemeClr>
                </a:solidFill>
              </a:rPr>
              <a:t>ATTGGTACCTTCAGG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8C837BC-716F-E186-8853-D1063447DBA5}"/>
                  </a:ext>
                </a:extLst>
              </p:cNvPr>
              <p:cNvSpPr/>
              <p:nvPr/>
            </p:nvSpPr>
            <p:spPr>
              <a:xfrm>
                <a:off x="-155275" y="4041845"/>
                <a:ext cx="7076536" cy="4247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28600" lvl="0" indent="-228600" algn="ctr" defTabSz="914400">
                  <a:lnSpc>
                    <a:spcPct val="90000"/>
                  </a:lnSpc>
                  <a:spcBef>
                    <a:spcPts val="1000"/>
                  </a:spcBef>
                  <a:defRPr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50000"/>
                      </a:schemeClr>
                    </a:solidFill>
                  </a:rPr>
                  <a:t> time by Dynamic Programming</a:t>
                </a:r>
              </a:p>
            </p:txBody>
          </p:sp>
        </mc:Choice>
        <mc:Fallback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8C837BC-716F-E186-8853-D1063447DB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5275" y="4041845"/>
                <a:ext cx="7076536" cy="424732"/>
              </a:xfrm>
              <a:prstGeom prst="rect">
                <a:avLst/>
              </a:prstGeom>
              <a:blipFill>
                <a:blip r:embed="rId4"/>
                <a:stretch>
                  <a:fillRect t="-20000" b="-3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6026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D58F5-F279-59ED-3A09-3B19ECACA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47FB5A8-C055-0507-4B78-FE0EADD25B6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We are stuck on many problems,</a:t>
                </a:r>
                <a:br>
                  <a:rPr lang="en-US" dirty="0"/>
                </a:br>
                <a:r>
                  <a:rPr lang="en-US" dirty="0"/>
                  <a:t>even just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time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47FB5A8-C055-0507-4B78-FE0EADD25B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727" t="-8403" b="-231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3546FC-B1B9-FDFF-76C3-EDB1CD2080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845734"/>
                <a:ext cx="11734800" cy="4023360"/>
              </a:xfrm>
            </p:spPr>
            <p:txBody>
              <a:bodyPr>
                <a:normAutofit/>
              </a:bodyPr>
              <a:lstStyle/>
              <a:p>
                <a:r>
                  <a:rPr lang="en-US" sz="2800" dirty="0"/>
                  <a:t>No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2−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sup>
                    </m:sSup>
                  </m:oMath>
                </a14:m>
                <a:r>
                  <a:rPr lang="en-US" sz="2800" dirty="0"/>
                  <a:t> time algorithms known for: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800" dirty="0"/>
                  <a:t> Many </a:t>
                </a:r>
                <a:r>
                  <a:rPr lang="en-US" sz="2800" dirty="0">
                    <a:solidFill>
                      <a:schemeClr val="accent3"/>
                    </a:solidFill>
                  </a:rPr>
                  <a:t>sequence-similarity</a:t>
                </a:r>
                <a:r>
                  <a:rPr lang="en-US" sz="2800" dirty="0"/>
                  <a:t> problems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800" dirty="0"/>
                  <a:t> Many problems in </a:t>
                </a:r>
                <a:r>
                  <a:rPr lang="en-US" sz="2800" dirty="0">
                    <a:solidFill>
                      <a:schemeClr val="accent3"/>
                    </a:solidFill>
                  </a:rPr>
                  <a:t>computational geometry</a:t>
                </a:r>
                <a:r>
                  <a:rPr lang="en-US" sz="2800" dirty="0"/>
                  <a:t>: </a:t>
                </a:r>
                <a:r>
                  <a:rPr lang="en-US" sz="2800" dirty="0" err="1"/>
                  <a:t>e.g</a:t>
                </a:r>
                <a:endParaRPr lang="en-US" sz="2800" dirty="0"/>
              </a:p>
              <a:p>
                <a:pPr lvl="1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   Given n points in the plane, are any </a:t>
                </a:r>
                <a:r>
                  <a:rPr lang="en-US" sz="2800" dirty="0">
                    <a:solidFill>
                      <a:srgbClr val="C00000"/>
                    </a:solidFill>
                  </a:rPr>
                  <a:t>three collinear</a:t>
                </a:r>
                <a:r>
                  <a:rPr lang="en-US" sz="2800" dirty="0"/>
                  <a:t>?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   A very important primitive!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3546FC-B1B9-FDFF-76C3-EDB1CD2080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845734"/>
                <a:ext cx="11734800" cy="4023360"/>
              </a:xfrm>
              <a:blipFill>
                <a:blip r:embed="rId3"/>
                <a:stretch>
                  <a:fillRect l="-1714" t="-2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532CD66B-6C0E-2670-56A7-DEE585BB2E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0077" y="4330459"/>
            <a:ext cx="3627517" cy="1725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395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8C26A-BD0A-A573-297F-4797784ED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656DBF1-278E-9A65-7737-A12BDB4048B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We are stuck on many problems,</a:t>
                </a:r>
                <a:br>
                  <a:rPr lang="en-US" dirty="0"/>
                </a:br>
                <a:r>
                  <a:rPr lang="en-US" dirty="0"/>
                  <a:t>even just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time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656DBF1-278E-9A65-7737-A12BDB4048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727" t="-8403" b="-231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175003-A386-FA80-B910-1FC3E9025F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845734"/>
                <a:ext cx="11734800" cy="4023360"/>
              </a:xfrm>
            </p:spPr>
            <p:txBody>
              <a:bodyPr>
                <a:normAutofit/>
              </a:bodyPr>
              <a:lstStyle/>
              <a:p>
                <a:r>
                  <a:rPr lang="en-US" sz="2800" dirty="0"/>
                  <a:t>No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2−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sup>
                    </m:sSup>
                  </m:oMath>
                </a14:m>
                <a:r>
                  <a:rPr lang="en-US" sz="2800" dirty="0"/>
                  <a:t> time algorithms known for: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800" dirty="0"/>
                  <a:t> Many </a:t>
                </a:r>
                <a:r>
                  <a:rPr lang="en-US" sz="2800" dirty="0">
                    <a:solidFill>
                      <a:schemeClr val="accent3"/>
                    </a:solidFill>
                  </a:rPr>
                  <a:t>sequence-similarity</a:t>
                </a:r>
                <a:r>
                  <a:rPr lang="en-US" sz="2800" dirty="0"/>
                  <a:t> problems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800" dirty="0"/>
                  <a:t> Many problems in </a:t>
                </a:r>
                <a:r>
                  <a:rPr lang="en-US" sz="2800" dirty="0">
                    <a:solidFill>
                      <a:schemeClr val="accent3"/>
                    </a:solidFill>
                  </a:rPr>
                  <a:t>computational geometry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800" dirty="0"/>
                  <a:t> Many </a:t>
                </a:r>
                <a:r>
                  <a:rPr lang="en-US" sz="2800" dirty="0">
                    <a:solidFill>
                      <a:schemeClr val="accent3"/>
                    </a:solidFill>
                  </a:rPr>
                  <a:t>graph problems </a:t>
                </a:r>
                <a:r>
                  <a:rPr lang="en-US" sz="2800" dirty="0"/>
                  <a:t>in </a:t>
                </a:r>
                <a:r>
                  <a:rPr lang="en-US" sz="2800" dirty="0">
                    <a:solidFill>
                      <a:schemeClr val="bg2">
                        <a:lumMod val="50000"/>
                      </a:schemeClr>
                    </a:solidFill>
                  </a:rPr>
                  <a:t>sparse</a:t>
                </a:r>
                <a:r>
                  <a:rPr lang="en-US" sz="2800" dirty="0"/>
                  <a:t> graphs: e.g.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endParaRPr lang="en-US" sz="2600" dirty="0"/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sz="2600" dirty="0"/>
                  <a:t>    Given an n-node, </a:t>
                </a:r>
                <a:r>
                  <a:rPr lang="en-US" sz="2600" dirty="0">
                    <a:solidFill>
                      <a:schemeClr val="bg2">
                        <a:lumMod val="50000"/>
                      </a:schemeClr>
                    </a:solidFill>
                  </a:rPr>
                  <a:t>O(n)-edge </a:t>
                </a:r>
                <a:r>
                  <a:rPr lang="en-US" sz="2600" dirty="0"/>
                  <a:t>graph, what is its </a:t>
                </a:r>
                <a:r>
                  <a:rPr lang="en-US" sz="2600" dirty="0">
                    <a:solidFill>
                      <a:srgbClr val="C00000"/>
                    </a:solidFill>
                  </a:rPr>
                  <a:t>diameter</a:t>
                </a:r>
                <a:r>
                  <a:rPr lang="en-US" sz="2600" dirty="0"/>
                  <a:t>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175003-A386-FA80-B910-1FC3E9025F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845734"/>
                <a:ext cx="11734800" cy="4023360"/>
              </a:xfrm>
              <a:blipFill>
                <a:blip r:embed="rId4"/>
                <a:stretch>
                  <a:fillRect l="-1714" t="-2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024CAAE2-2DE7-7083-A622-3E7258C3E1DD}"/>
              </a:ext>
            </a:extLst>
          </p:cNvPr>
          <p:cNvSpPr/>
          <p:nvPr/>
        </p:nvSpPr>
        <p:spPr>
          <a:xfrm>
            <a:off x="9601200" y="4416725"/>
            <a:ext cx="250166" cy="24153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14D4FA3-68A8-CA53-A7BB-43A959EB66A5}"/>
              </a:ext>
            </a:extLst>
          </p:cNvPr>
          <p:cNvSpPr/>
          <p:nvPr/>
        </p:nvSpPr>
        <p:spPr>
          <a:xfrm>
            <a:off x="8977223" y="5069457"/>
            <a:ext cx="250166" cy="24153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48504B5-CB1F-5EAA-0399-5D049A9204EB}"/>
              </a:ext>
            </a:extLst>
          </p:cNvPr>
          <p:cNvSpPr/>
          <p:nvPr/>
        </p:nvSpPr>
        <p:spPr>
          <a:xfrm>
            <a:off x="9476117" y="5735929"/>
            <a:ext cx="250166" cy="24153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A388CD4-FD80-A170-520B-FB4B006BDC5B}"/>
              </a:ext>
            </a:extLst>
          </p:cNvPr>
          <p:cNvSpPr/>
          <p:nvPr/>
        </p:nvSpPr>
        <p:spPr>
          <a:xfrm>
            <a:off x="10348823" y="5692797"/>
            <a:ext cx="250166" cy="24153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5575E73-391D-F353-4BC1-B75EBE40F3BA}"/>
              </a:ext>
            </a:extLst>
          </p:cNvPr>
          <p:cNvSpPr/>
          <p:nvPr/>
        </p:nvSpPr>
        <p:spPr>
          <a:xfrm>
            <a:off x="10584611" y="4750280"/>
            <a:ext cx="250166" cy="24153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0A2BCD5-4800-936B-7B6D-1484E3185435}"/>
              </a:ext>
            </a:extLst>
          </p:cNvPr>
          <p:cNvSpPr/>
          <p:nvPr/>
        </p:nvSpPr>
        <p:spPr>
          <a:xfrm>
            <a:off x="11270411" y="5451258"/>
            <a:ext cx="250166" cy="24153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3167032-C790-70F4-2AFE-2B570B6E1719}"/>
              </a:ext>
            </a:extLst>
          </p:cNvPr>
          <p:cNvCxnSpPr>
            <a:cxnSpLocks/>
            <a:stCxn id="5" idx="5"/>
            <a:endCxn id="6" idx="1"/>
          </p:cNvCxnSpPr>
          <p:nvPr/>
        </p:nvCxnSpPr>
        <p:spPr>
          <a:xfrm>
            <a:off x="9190753" y="5275623"/>
            <a:ext cx="322000" cy="495679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42F12C-D8CA-29AC-FED6-68479973C67E}"/>
              </a:ext>
            </a:extLst>
          </p:cNvPr>
          <p:cNvCxnSpPr>
            <a:cxnSpLocks/>
            <a:stCxn id="4" idx="3"/>
            <a:endCxn id="5" idx="7"/>
          </p:cNvCxnSpPr>
          <p:nvPr/>
        </p:nvCxnSpPr>
        <p:spPr>
          <a:xfrm flipH="1">
            <a:off x="9190753" y="4622891"/>
            <a:ext cx="447083" cy="481939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E7ABBB9-EA70-3C55-2C35-CF93D318412E}"/>
              </a:ext>
            </a:extLst>
          </p:cNvPr>
          <p:cNvCxnSpPr>
            <a:cxnSpLocks/>
            <a:stCxn id="4" idx="6"/>
            <a:endCxn id="9" idx="1"/>
          </p:cNvCxnSpPr>
          <p:nvPr/>
        </p:nvCxnSpPr>
        <p:spPr>
          <a:xfrm>
            <a:off x="9851366" y="4537495"/>
            <a:ext cx="769881" cy="248158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C999F23-A654-DC42-B5AC-B0327379A6FE}"/>
              </a:ext>
            </a:extLst>
          </p:cNvPr>
          <p:cNvCxnSpPr>
            <a:cxnSpLocks/>
            <a:stCxn id="9" idx="4"/>
            <a:endCxn id="8" idx="0"/>
          </p:cNvCxnSpPr>
          <p:nvPr/>
        </p:nvCxnSpPr>
        <p:spPr>
          <a:xfrm flipH="1">
            <a:off x="10473906" y="4991819"/>
            <a:ext cx="235788" cy="700978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A835CED-3BE8-A892-0340-2BF85094D4FA}"/>
              </a:ext>
            </a:extLst>
          </p:cNvPr>
          <p:cNvCxnSpPr>
            <a:cxnSpLocks/>
            <a:stCxn id="8" idx="2"/>
            <a:endCxn id="6" idx="6"/>
          </p:cNvCxnSpPr>
          <p:nvPr/>
        </p:nvCxnSpPr>
        <p:spPr>
          <a:xfrm flipH="1">
            <a:off x="9726283" y="5813567"/>
            <a:ext cx="622540" cy="43132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8E6CE27-874C-9F6C-B867-42C64C799E47}"/>
              </a:ext>
            </a:extLst>
          </p:cNvPr>
          <p:cNvCxnSpPr>
            <a:cxnSpLocks/>
            <a:stCxn id="9" idx="5"/>
            <a:endCxn id="10" idx="1"/>
          </p:cNvCxnSpPr>
          <p:nvPr/>
        </p:nvCxnSpPr>
        <p:spPr>
          <a:xfrm>
            <a:off x="10798141" y="4956446"/>
            <a:ext cx="508906" cy="530185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A85D304-4CEE-975B-6531-BBE4322069C5}"/>
              </a:ext>
            </a:extLst>
          </p:cNvPr>
          <p:cNvCxnSpPr>
            <a:cxnSpLocks/>
            <a:stCxn id="10" idx="2"/>
            <a:endCxn id="8" idx="6"/>
          </p:cNvCxnSpPr>
          <p:nvPr/>
        </p:nvCxnSpPr>
        <p:spPr>
          <a:xfrm flipH="1">
            <a:off x="10598989" y="5572028"/>
            <a:ext cx="671422" cy="241539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E2400377-9BB2-F8BB-32E4-C7F41D69F0D2}"/>
                  </a:ext>
                </a:extLst>
              </p14:cNvPr>
              <p14:cNvContentPartPr/>
              <p14:nvPr/>
            </p14:nvContentPartPr>
            <p14:xfrm>
              <a:off x="9092085" y="4279137"/>
              <a:ext cx="2446200" cy="117684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E2400377-9BB2-F8BB-32E4-C7F41D69F0D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085965" y="4273017"/>
                <a:ext cx="2458440" cy="118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DD45DB48-D19D-4B85-688F-24C250052635}"/>
                  </a:ext>
                </a:extLst>
              </p14:cNvPr>
              <p14:cNvContentPartPr/>
              <p14:nvPr/>
            </p14:nvContentPartPr>
            <p14:xfrm>
              <a:off x="8763405" y="4941177"/>
              <a:ext cx="605520" cy="48600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DD45DB48-D19D-4B85-688F-24C25005263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757285" y="4935057"/>
                <a:ext cx="617760" cy="49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A8FB35BA-C892-24F4-48FC-BAE2E4D1CEDA}"/>
                  </a:ext>
                </a:extLst>
              </p14:cNvPr>
              <p14:cNvContentPartPr/>
              <p14:nvPr/>
            </p14:nvContentPartPr>
            <p14:xfrm>
              <a:off x="11057685" y="5322057"/>
              <a:ext cx="564120" cy="44064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A8FB35BA-C892-24F4-48FC-BAE2E4D1CED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1051565" y="5315937"/>
                <a:ext cx="576360" cy="452880"/>
              </a:xfrm>
              <a:prstGeom prst="rect">
                <a:avLst/>
              </a:prstGeom>
            </p:spPr>
          </p:pic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3709C0D7-45C9-9820-2DA8-20F85C4E2328}"/>
              </a:ext>
            </a:extLst>
          </p:cNvPr>
          <p:cNvSpPr txBox="1"/>
          <p:nvPr/>
        </p:nvSpPr>
        <p:spPr>
          <a:xfrm>
            <a:off x="10315185" y="4152497"/>
            <a:ext cx="1551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(diameter = 3)</a:t>
            </a:r>
          </a:p>
        </p:txBody>
      </p:sp>
    </p:spTree>
    <p:extLst>
      <p:ext uri="{BB962C8B-B14F-4D97-AF65-F5344CB8AC3E}">
        <p14:creationId xmlns:p14="http://schemas.microsoft.com/office/powerpoint/2010/main" val="2741840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  <p:bldP spid="9" grpId="0" animBg="1"/>
      <p:bldP spid="10" grpId="0" animBg="1"/>
      <p:bldP spid="4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D9637-5C2E-2A8F-D39B-346FD56BE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5AE4FB6-37EC-8268-1C93-EFEF9DDD00B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We are stuck on many problems,</a:t>
                </a:r>
                <a:br>
                  <a:rPr lang="en-US" dirty="0"/>
                </a:br>
                <a:r>
                  <a:rPr lang="en-US" dirty="0"/>
                  <a:t>even just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time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5AE4FB6-37EC-8268-1C93-EFEF9DDD00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727" t="-8403" b="-231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5C653B-F225-9B66-A68D-127CB736F81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845734"/>
                <a:ext cx="11734800" cy="4023360"/>
              </a:xfrm>
            </p:spPr>
            <p:txBody>
              <a:bodyPr>
                <a:normAutofit/>
              </a:bodyPr>
              <a:lstStyle/>
              <a:p>
                <a:r>
                  <a:rPr lang="en-US" sz="2800" dirty="0"/>
                  <a:t>No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2−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sup>
                    </m:sSup>
                  </m:oMath>
                </a14:m>
                <a:r>
                  <a:rPr lang="en-US" sz="2800" dirty="0"/>
                  <a:t> time algorithms known for: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800" dirty="0"/>
                  <a:t> Many </a:t>
                </a:r>
                <a:r>
                  <a:rPr lang="en-US" sz="2800" dirty="0">
                    <a:solidFill>
                      <a:schemeClr val="accent3"/>
                    </a:solidFill>
                  </a:rPr>
                  <a:t>sequence-similarity</a:t>
                </a:r>
                <a:r>
                  <a:rPr lang="en-US" sz="2800" dirty="0"/>
                  <a:t> problems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800" dirty="0"/>
                  <a:t> Many problems in </a:t>
                </a:r>
                <a:r>
                  <a:rPr lang="en-US" sz="2800" dirty="0">
                    <a:solidFill>
                      <a:schemeClr val="accent3"/>
                    </a:solidFill>
                  </a:rPr>
                  <a:t>computational geometry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800" dirty="0"/>
                  <a:t> Many </a:t>
                </a:r>
                <a:r>
                  <a:rPr lang="en-US" sz="2800" dirty="0">
                    <a:solidFill>
                      <a:schemeClr val="accent3"/>
                    </a:solidFill>
                  </a:rPr>
                  <a:t>graph problems </a:t>
                </a:r>
                <a:r>
                  <a:rPr lang="en-US" sz="2800" dirty="0"/>
                  <a:t>in </a:t>
                </a:r>
                <a:r>
                  <a:rPr lang="en-US" sz="2800" dirty="0">
                    <a:solidFill>
                      <a:schemeClr val="bg2">
                        <a:lumMod val="50000"/>
                      </a:schemeClr>
                    </a:solidFill>
                  </a:rPr>
                  <a:t>sparse</a:t>
                </a:r>
                <a:r>
                  <a:rPr lang="en-US" sz="2800" dirty="0"/>
                  <a:t> graphs: e.g.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800" dirty="0"/>
                  <a:t> Many other problems …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5C653B-F225-9B66-A68D-127CB736F8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845734"/>
                <a:ext cx="11734800" cy="4023360"/>
              </a:xfrm>
              <a:blipFill>
                <a:blip r:embed="rId4"/>
                <a:stretch>
                  <a:fillRect l="-1714" t="-2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1959394D-C9DC-94A0-F7FD-8FDC7813559B}"/>
              </a:ext>
            </a:extLst>
          </p:cNvPr>
          <p:cNvSpPr txBox="1"/>
          <p:nvPr/>
        </p:nvSpPr>
        <p:spPr>
          <a:xfrm>
            <a:off x="2352651" y="4944522"/>
            <a:ext cx="815843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3000" b="1" dirty="0">
                <a:solidFill>
                  <a:srgbClr val="C00000"/>
                </a:solidFill>
              </a:rPr>
              <a:t>Are we stuck because of the same reason?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722E2A-B777-C4EF-B8D3-1EED35EFC839}"/>
              </a:ext>
            </a:extLst>
          </p:cNvPr>
          <p:cNvSpPr txBox="1"/>
          <p:nvPr/>
        </p:nvSpPr>
        <p:spPr>
          <a:xfrm>
            <a:off x="2931051" y="4266173"/>
            <a:ext cx="60945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3200" b="1" dirty="0">
                <a:solidFill>
                  <a:srgbClr val="C00000"/>
                </a:solidFill>
              </a:rPr>
              <a:t>Why are we stuck?</a:t>
            </a:r>
          </a:p>
        </p:txBody>
      </p:sp>
    </p:spTree>
    <p:extLst>
      <p:ext uri="{BB962C8B-B14F-4D97-AF65-F5344CB8AC3E}">
        <p14:creationId xmlns:p14="http://schemas.microsoft.com/office/powerpoint/2010/main" val="2639171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A1642-ACC7-4A67-BA96-EC8E7B74C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205" y="240292"/>
            <a:ext cx="10058400" cy="1450757"/>
          </a:xfrm>
        </p:spPr>
        <p:txBody>
          <a:bodyPr/>
          <a:lstStyle/>
          <a:p>
            <a:r>
              <a:rPr lang="en-US" dirty="0"/>
              <a:t>The success of NP-completeness theory</a:t>
            </a:r>
            <a:br>
              <a:rPr lang="en-US" dirty="0"/>
            </a:br>
            <a:r>
              <a:rPr lang="en-US" dirty="0"/>
              <a:t>(not sufficient for our purpose!)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6DD2D1D-3966-4A84-BE65-66E013F53FCC}"/>
              </a:ext>
            </a:extLst>
          </p:cNvPr>
          <p:cNvSpPr/>
          <p:nvPr/>
        </p:nvSpPr>
        <p:spPr>
          <a:xfrm>
            <a:off x="-10475" y="1723807"/>
            <a:ext cx="11361761" cy="485860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C0140D-AABD-442D-85EE-BFBBE3F08E7A}"/>
              </a:ext>
            </a:extLst>
          </p:cNvPr>
          <p:cNvSpPr txBox="1"/>
          <p:nvPr/>
        </p:nvSpPr>
        <p:spPr>
          <a:xfrm>
            <a:off x="4405712" y="1745974"/>
            <a:ext cx="24429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/>
              <a:t>NP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D4C5D51-C4D0-4893-9D76-CB0ADC1DD6A3}"/>
              </a:ext>
            </a:extLst>
          </p:cNvPr>
          <p:cNvSpPr/>
          <p:nvPr/>
        </p:nvSpPr>
        <p:spPr>
          <a:xfrm>
            <a:off x="542259" y="4340145"/>
            <a:ext cx="1273791" cy="716507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SAT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BD8488B-2162-405C-A629-E368C34154D9}"/>
              </a:ext>
            </a:extLst>
          </p:cNvPr>
          <p:cNvSpPr/>
          <p:nvPr/>
        </p:nvSpPr>
        <p:spPr>
          <a:xfrm>
            <a:off x="1413441" y="2258861"/>
            <a:ext cx="3705367" cy="2094931"/>
          </a:xfrm>
          <a:custGeom>
            <a:avLst/>
            <a:gdLst>
              <a:gd name="connsiteX0" fmla="*/ 3589361 w 3589361"/>
              <a:gd name="connsiteY0" fmla="*/ 3454 h 1463764"/>
              <a:gd name="connsiteX1" fmla="*/ 1903863 w 3589361"/>
              <a:gd name="connsiteY1" fmla="*/ 228642 h 1463764"/>
              <a:gd name="connsiteX2" fmla="*/ 0 w 3589361"/>
              <a:gd name="connsiteY2" fmla="*/ 1463764 h 1463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89361" h="1463764">
                <a:moveTo>
                  <a:pt x="3589361" y="3454"/>
                </a:moveTo>
                <a:cubicBezTo>
                  <a:pt x="3045725" y="-5645"/>
                  <a:pt x="2502090" y="-14743"/>
                  <a:pt x="1903863" y="228642"/>
                </a:cubicBezTo>
                <a:cubicBezTo>
                  <a:pt x="1305636" y="472027"/>
                  <a:pt x="652818" y="967895"/>
                  <a:pt x="0" y="1463764"/>
                </a:cubicBezTo>
              </a:path>
            </a:pathLst>
          </a:custGeom>
          <a:noFill/>
          <a:ln w="50800">
            <a:solidFill>
              <a:srgbClr val="FFFF00"/>
            </a:solidFill>
            <a:headEnd type="stealth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C0CA67A4-E776-4086-8779-083DCC09C1D4}"/>
              </a:ext>
            </a:extLst>
          </p:cNvPr>
          <p:cNvSpPr/>
          <p:nvPr/>
        </p:nvSpPr>
        <p:spPr>
          <a:xfrm>
            <a:off x="1604510" y="4981590"/>
            <a:ext cx="3814549" cy="648268"/>
          </a:xfrm>
          <a:custGeom>
            <a:avLst/>
            <a:gdLst>
              <a:gd name="connsiteX0" fmla="*/ 3814549 w 3814549"/>
              <a:gd name="connsiteY0" fmla="*/ 648268 h 648268"/>
              <a:gd name="connsiteX1" fmla="*/ 1255594 w 3814549"/>
              <a:gd name="connsiteY1" fmla="*/ 450376 h 648268"/>
              <a:gd name="connsiteX2" fmla="*/ 0 w 3814549"/>
              <a:gd name="connsiteY2" fmla="*/ 0 h 648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14549" h="648268">
                <a:moveTo>
                  <a:pt x="3814549" y="648268"/>
                </a:moveTo>
                <a:cubicBezTo>
                  <a:pt x="2852950" y="603344"/>
                  <a:pt x="1891352" y="558421"/>
                  <a:pt x="1255594" y="450376"/>
                </a:cubicBezTo>
                <a:cubicBezTo>
                  <a:pt x="619836" y="342331"/>
                  <a:pt x="309918" y="171165"/>
                  <a:pt x="0" y="0"/>
                </a:cubicBezTo>
              </a:path>
            </a:pathLst>
          </a:custGeom>
          <a:noFill/>
          <a:ln w="50800">
            <a:solidFill>
              <a:srgbClr val="FFFF00"/>
            </a:solidFill>
            <a:headEnd type="stealth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14E4E33-43AF-41B0-950D-F175A73E52D0}"/>
              </a:ext>
            </a:extLst>
          </p:cNvPr>
          <p:cNvSpPr/>
          <p:nvPr/>
        </p:nvSpPr>
        <p:spPr>
          <a:xfrm>
            <a:off x="2874887" y="3412097"/>
            <a:ext cx="1273791" cy="648268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3-SAT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C352AE6-8796-4289-AC0E-FCC10D3D1BDB}"/>
              </a:ext>
            </a:extLst>
          </p:cNvPr>
          <p:cNvSpPr/>
          <p:nvPr/>
        </p:nvSpPr>
        <p:spPr>
          <a:xfrm>
            <a:off x="3605043" y="4657455"/>
            <a:ext cx="1273791" cy="648268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Clique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BC87D0B-6406-4827-AD3C-1EC64E1F55ED}"/>
              </a:ext>
            </a:extLst>
          </p:cNvPr>
          <p:cNvSpPr/>
          <p:nvPr/>
        </p:nvSpPr>
        <p:spPr>
          <a:xfrm>
            <a:off x="4934563" y="3409917"/>
            <a:ext cx="2204114" cy="648268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0-1 Integer Programming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FF02279-738E-4CFF-82CB-1FF318B9280C}"/>
              </a:ext>
            </a:extLst>
          </p:cNvPr>
          <p:cNvSpPr/>
          <p:nvPr/>
        </p:nvSpPr>
        <p:spPr>
          <a:xfrm>
            <a:off x="5318975" y="4685983"/>
            <a:ext cx="1273791" cy="648268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Set Packing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8A9EDF6-CE9A-4DAE-A155-738D8D1DB23E}"/>
              </a:ext>
            </a:extLst>
          </p:cNvPr>
          <p:cNvSpPr/>
          <p:nvPr/>
        </p:nvSpPr>
        <p:spPr>
          <a:xfrm>
            <a:off x="4007651" y="2538509"/>
            <a:ext cx="1273791" cy="648268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Vertex Cover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A00D826-B68B-4E4A-8473-B5B751B7AB6B}"/>
              </a:ext>
            </a:extLst>
          </p:cNvPr>
          <p:cNvSpPr/>
          <p:nvPr/>
        </p:nvSpPr>
        <p:spPr>
          <a:xfrm>
            <a:off x="5861478" y="2723080"/>
            <a:ext cx="2102888" cy="648268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Independent Set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CEF5C06-DE03-456D-94FE-73C359917DFF}"/>
              </a:ext>
            </a:extLst>
          </p:cNvPr>
          <p:cNvSpPr/>
          <p:nvPr/>
        </p:nvSpPr>
        <p:spPr>
          <a:xfrm>
            <a:off x="6481310" y="5622629"/>
            <a:ext cx="1687773" cy="648268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Feedback Node Set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024806A-C53D-49CC-A1A3-D52A2994F8B6}"/>
              </a:ext>
            </a:extLst>
          </p:cNvPr>
          <p:cNvSpPr/>
          <p:nvPr/>
        </p:nvSpPr>
        <p:spPr>
          <a:xfrm>
            <a:off x="6848661" y="4732518"/>
            <a:ext cx="1687773" cy="648268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Feedback Arc Set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55D1D6B-DDD2-4F3E-9D34-92BA47B1A413}"/>
              </a:ext>
            </a:extLst>
          </p:cNvPr>
          <p:cNvSpPr/>
          <p:nvPr/>
        </p:nvSpPr>
        <p:spPr>
          <a:xfrm>
            <a:off x="3849566" y="5780191"/>
            <a:ext cx="1928883" cy="648268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Hamiltonian Cycle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DD7B69B-B64D-4C19-9576-D629E7EC3099}"/>
              </a:ext>
            </a:extLst>
          </p:cNvPr>
          <p:cNvSpPr/>
          <p:nvPr/>
        </p:nvSpPr>
        <p:spPr>
          <a:xfrm>
            <a:off x="8265185" y="2538509"/>
            <a:ext cx="1687773" cy="648268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Chromatic Number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E082C6C-8D72-491E-90E5-CA1873E7233B}"/>
              </a:ext>
            </a:extLst>
          </p:cNvPr>
          <p:cNvSpPr/>
          <p:nvPr/>
        </p:nvSpPr>
        <p:spPr>
          <a:xfrm>
            <a:off x="7566306" y="3474539"/>
            <a:ext cx="1687773" cy="648268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Clique Cover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B51F536-34FC-4133-B52D-A12F886B7ABF}"/>
              </a:ext>
            </a:extLst>
          </p:cNvPr>
          <p:cNvSpPr/>
          <p:nvPr/>
        </p:nvSpPr>
        <p:spPr>
          <a:xfrm>
            <a:off x="9467894" y="3828975"/>
            <a:ext cx="1687773" cy="648268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Exact Cover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C7668C14-DEB6-4641-B75F-69EE508BD6FE}"/>
              </a:ext>
            </a:extLst>
          </p:cNvPr>
          <p:cNvSpPr/>
          <p:nvPr/>
        </p:nvSpPr>
        <p:spPr>
          <a:xfrm>
            <a:off x="8912886" y="4616719"/>
            <a:ext cx="1687773" cy="648268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Hitting Set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93CD2EC-E363-4FEB-9462-D764B8B2CC53}"/>
              </a:ext>
            </a:extLst>
          </p:cNvPr>
          <p:cNvSpPr/>
          <p:nvPr/>
        </p:nvSpPr>
        <p:spPr>
          <a:xfrm>
            <a:off x="8141788" y="5344414"/>
            <a:ext cx="1687773" cy="648268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Steiner Tree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3B1F905-7713-40DC-9461-EB2A09431308}"/>
              </a:ext>
            </a:extLst>
          </p:cNvPr>
          <p:cNvSpPr/>
          <p:nvPr/>
        </p:nvSpPr>
        <p:spPr>
          <a:xfrm>
            <a:off x="1022773" y="2651235"/>
            <a:ext cx="1687773" cy="648268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3DM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BF167D2-4F72-41E2-9AB7-6C553C3BC1C0}"/>
              </a:ext>
            </a:extLst>
          </p:cNvPr>
          <p:cNvSpPr/>
          <p:nvPr/>
        </p:nvSpPr>
        <p:spPr>
          <a:xfrm>
            <a:off x="1917270" y="4333321"/>
            <a:ext cx="1687773" cy="648268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Knapsack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655C464-1E37-4ABD-8121-35FE7F5D8FB2}"/>
              </a:ext>
            </a:extLst>
          </p:cNvPr>
          <p:cNvSpPr/>
          <p:nvPr/>
        </p:nvSpPr>
        <p:spPr>
          <a:xfrm>
            <a:off x="1917270" y="5486557"/>
            <a:ext cx="1823114" cy="648268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Job Scheduling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CF050E8-B56B-4237-9CA0-B472EF48E1CE}"/>
              </a:ext>
            </a:extLst>
          </p:cNvPr>
          <p:cNvSpPr/>
          <p:nvPr/>
        </p:nvSpPr>
        <p:spPr>
          <a:xfrm>
            <a:off x="178886" y="3377978"/>
            <a:ext cx="1687773" cy="648268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Partition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05E8D28-1E90-4F36-A9B8-BA3C8DA5EB0A}"/>
              </a:ext>
            </a:extLst>
          </p:cNvPr>
          <p:cNvSpPr/>
          <p:nvPr/>
        </p:nvSpPr>
        <p:spPr>
          <a:xfrm>
            <a:off x="6600725" y="1979427"/>
            <a:ext cx="1687773" cy="648268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Max Cut</a:t>
            </a: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42F20DB-2E4E-4E6A-8583-58BAA2D8ACAB}"/>
              </a:ext>
            </a:extLst>
          </p:cNvPr>
          <p:cNvSpPr/>
          <p:nvPr/>
        </p:nvSpPr>
        <p:spPr>
          <a:xfrm>
            <a:off x="676462" y="3985303"/>
            <a:ext cx="163773" cy="409433"/>
          </a:xfrm>
          <a:custGeom>
            <a:avLst/>
            <a:gdLst>
              <a:gd name="connsiteX0" fmla="*/ 0 w 163773"/>
              <a:gd name="connsiteY0" fmla="*/ 0 h 409433"/>
              <a:gd name="connsiteX1" fmla="*/ 163773 w 163773"/>
              <a:gd name="connsiteY1" fmla="*/ 409433 h 409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63773" h="409433">
                <a:moveTo>
                  <a:pt x="0" y="0"/>
                </a:moveTo>
                <a:lnTo>
                  <a:pt x="163773" y="409433"/>
                </a:lnTo>
              </a:path>
            </a:pathLst>
          </a:custGeom>
          <a:noFill/>
          <a:ln w="50800">
            <a:solidFill>
              <a:srgbClr val="FFFF00"/>
            </a:solidFill>
            <a:headEnd type="stealth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748B9FCA-E559-4878-BD27-284346CD4BDC}"/>
              </a:ext>
            </a:extLst>
          </p:cNvPr>
          <p:cNvSpPr/>
          <p:nvPr/>
        </p:nvSpPr>
        <p:spPr>
          <a:xfrm>
            <a:off x="1317907" y="3289267"/>
            <a:ext cx="798394" cy="1044054"/>
          </a:xfrm>
          <a:custGeom>
            <a:avLst/>
            <a:gdLst>
              <a:gd name="connsiteX0" fmla="*/ 798394 w 798394"/>
              <a:gd name="connsiteY0" fmla="*/ 0 h 1044054"/>
              <a:gd name="connsiteX1" fmla="*/ 0 w 798394"/>
              <a:gd name="connsiteY1" fmla="*/ 1044054 h 1044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98394" h="1044054">
                <a:moveTo>
                  <a:pt x="798394" y="0"/>
                </a:moveTo>
                <a:lnTo>
                  <a:pt x="0" y="1044054"/>
                </a:lnTo>
              </a:path>
            </a:pathLst>
          </a:custGeom>
          <a:noFill/>
          <a:ln w="50800">
            <a:solidFill>
              <a:srgbClr val="FFFF00"/>
            </a:solidFill>
            <a:headEnd type="stealth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7AA97C6D-9E4A-4041-A231-AB2F5680099A}"/>
              </a:ext>
            </a:extLst>
          </p:cNvPr>
          <p:cNvSpPr/>
          <p:nvPr/>
        </p:nvSpPr>
        <p:spPr>
          <a:xfrm>
            <a:off x="1624979" y="3842001"/>
            <a:ext cx="1248770" cy="600502"/>
          </a:xfrm>
          <a:custGeom>
            <a:avLst/>
            <a:gdLst>
              <a:gd name="connsiteX0" fmla="*/ 1248770 w 1248770"/>
              <a:gd name="connsiteY0" fmla="*/ 0 h 600502"/>
              <a:gd name="connsiteX1" fmla="*/ 0 w 1248770"/>
              <a:gd name="connsiteY1" fmla="*/ 600502 h 600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48770" h="600502">
                <a:moveTo>
                  <a:pt x="1248770" y="0"/>
                </a:moveTo>
                <a:lnTo>
                  <a:pt x="0" y="600502"/>
                </a:lnTo>
              </a:path>
            </a:pathLst>
          </a:custGeom>
          <a:noFill/>
          <a:ln w="50800">
            <a:solidFill>
              <a:srgbClr val="FFFF00"/>
            </a:solidFill>
            <a:headEnd type="stealth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BF33A736-5AA7-44AB-8643-61DF5F83E7A7}"/>
              </a:ext>
            </a:extLst>
          </p:cNvPr>
          <p:cNvSpPr/>
          <p:nvPr/>
        </p:nvSpPr>
        <p:spPr>
          <a:xfrm>
            <a:off x="1734163" y="4729106"/>
            <a:ext cx="245660" cy="109182"/>
          </a:xfrm>
          <a:custGeom>
            <a:avLst/>
            <a:gdLst>
              <a:gd name="connsiteX0" fmla="*/ 245660 w 245660"/>
              <a:gd name="connsiteY0" fmla="*/ 0 h 109182"/>
              <a:gd name="connsiteX1" fmla="*/ 0 w 245660"/>
              <a:gd name="connsiteY1" fmla="*/ 109182 h 109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45660" h="109182">
                <a:moveTo>
                  <a:pt x="245660" y="0"/>
                </a:moveTo>
                <a:lnTo>
                  <a:pt x="0" y="109182"/>
                </a:lnTo>
              </a:path>
            </a:pathLst>
          </a:custGeom>
          <a:noFill/>
          <a:ln w="50800">
            <a:solidFill>
              <a:srgbClr val="FFFF00"/>
            </a:solidFill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17E48495-3041-4C10-8F15-EF39163B9FE9}"/>
              </a:ext>
            </a:extLst>
          </p:cNvPr>
          <p:cNvSpPr/>
          <p:nvPr/>
        </p:nvSpPr>
        <p:spPr>
          <a:xfrm>
            <a:off x="1720516" y="4961118"/>
            <a:ext cx="1972101" cy="150125"/>
          </a:xfrm>
          <a:custGeom>
            <a:avLst/>
            <a:gdLst>
              <a:gd name="connsiteX0" fmla="*/ 1972101 w 1972101"/>
              <a:gd name="connsiteY0" fmla="*/ 150125 h 150125"/>
              <a:gd name="connsiteX1" fmla="*/ 0 w 1972101"/>
              <a:gd name="connsiteY1" fmla="*/ 0 h 150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72101" h="150125">
                <a:moveTo>
                  <a:pt x="1972101" y="150125"/>
                </a:moveTo>
                <a:lnTo>
                  <a:pt x="0" y="0"/>
                </a:lnTo>
              </a:path>
            </a:pathLst>
          </a:custGeom>
          <a:noFill/>
          <a:ln w="50800">
            <a:solidFill>
              <a:srgbClr val="FFFF00"/>
            </a:solidFill>
            <a:headEnd type="stealth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49485898-620A-490F-89B8-4BB8E29A0C2A}"/>
              </a:ext>
            </a:extLst>
          </p:cNvPr>
          <p:cNvSpPr/>
          <p:nvPr/>
        </p:nvSpPr>
        <p:spPr>
          <a:xfrm>
            <a:off x="1597686" y="2920778"/>
            <a:ext cx="2415654" cy="1467134"/>
          </a:xfrm>
          <a:custGeom>
            <a:avLst/>
            <a:gdLst>
              <a:gd name="connsiteX0" fmla="*/ 2415654 w 2415654"/>
              <a:gd name="connsiteY0" fmla="*/ 0 h 1467134"/>
              <a:gd name="connsiteX1" fmla="*/ 1173707 w 2415654"/>
              <a:gd name="connsiteY1" fmla="*/ 307074 h 1467134"/>
              <a:gd name="connsiteX2" fmla="*/ 0 w 2415654"/>
              <a:gd name="connsiteY2" fmla="*/ 1467134 h 1467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15654" h="1467134">
                <a:moveTo>
                  <a:pt x="2415654" y="0"/>
                </a:moveTo>
                <a:cubicBezTo>
                  <a:pt x="1995985" y="31276"/>
                  <a:pt x="1576316" y="62552"/>
                  <a:pt x="1173707" y="307074"/>
                </a:cubicBezTo>
                <a:cubicBezTo>
                  <a:pt x="771098" y="551596"/>
                  <a:pt x="385549" y="1009365"/>
                  <a:pt x="0" y="1467134"/>
                </a:cubicBezTo>
              </a:path>
            </a:pathLst>
          </a:custGeom>
          <a:noFill/>
          <a:ln w="50800">
            <a:solidFill>
              <a:srgbClr val="FFFF00"/>
            </a:solidFill>
            <a:head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B0D3093C-A751-44D3-956C-65D546AFF12D}"/>
              </a:ext>
            </a:extLst>
          </p:cNvPr>
          <p:cNvSpPr/>
          <p:nvPr/>
        </p:nvSpPr>
        <p:spPr>
          <a:xfrm>
            <a:off x="1768283" y="3807882"/>
            <a:ext cx="3214048" cy="784746"/>
          </a:xfrm>
          <a:custGeom>
            <a:avLst/>
            <a:gdLst>
              <a:gd name="connsiteX0" fmla="*/ 3214048 w 3214048"/>
              <a:gd name="connsiteY0" fmla="*/ 0 h 784746"/>
              <a:gd name="connsiteX1" fmla="*/ 1467134 w 3214048"/>
              <a:gd name="connsiteY1" fmla="*/ 402609 h 784746"/>
              <a:gd name="connsiteX2" fmla="*/ 368489 w 3214048"/>
              <a:gd name="connsiteY2" fmla="*/ 532263 h 784746"/>
              <a:gd name="connsiteX3" fmla="*/ 0 w 3214048"/>
              <a:gd name="connsiteY3" fmla="*/ 784746 h 7847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14048" h="784746">
                <a:moveTo>
                  <a:pt x="3214048" y="0"/>
                </a:moveTo>
                <a:cubicBezTo>
                  <a:pt x="2577721" y="156949"/>
                  <a:pt x="1941394" y="313899"/>
                  <a:pt x="1467134" y="402609"/>
                </a:cubicBezTo>
                <a:cubicBezTo>
                  <a:pt x="992874" y="491320"/>
                  <a:pt x="613011" y="468574"/>
                  <a:pt x="368489" y="532263"/>
                </a:cubicBezTo>
                <a:cubicBezTo>
                  <a:pt x="123967" y="595953"/>
                  <a:pt x="61983" y="690349"/>
                  <a:pt x="0" y="784746"/>
                </a:cubicBezTo>
              </a:path>
            </a:pathLst>
          </a:custGeom>
          <a:noFill/>
          <a:ln w="50800">
            <a:solidFill>
              <a:srgbClr val="FFFF00"/>
            </a:solidFill>
            <a:headEnd type="stealth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55475CD6-C5D7-4F81-9C48-137988E4BF9F}"/>
              </a:ext>
            </a:extLst>
          </p:cNvPr>
          <p:cNvSpPr/>
          <p:nvPr/>
        </p:nvSpPr>
        <p:spPr>
          <a:xfrm rot="152722">
            <a:off x="3939413" y="4142252"/>
            <a:ext cx="3678072" cy="266131"/>
          </a:xfrm>
          <a:custGeom>
            <a:avLst/>
            <a:gdLst>
              <a:gd name="connsiteX0" fmla="*/ 3678072 w 3678072"/>
              <a:gd name="connsiteY0" fmla="*/ 0 h 266131"/>
              <a:gd name="connsiteX1" fmla="*/ 0 w 3678072"/>
              <a:gd name="connsiteY1" fmla="*/ 266131 h 266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678072" h="266131">
                <a:moveTo>
                  <a:pt x="3678072" y="0"/>
                </a:moveTo>
                <a:lnTo>
                  <a:pt x="0" y="266131"/>
                </a:lnTo>
              </a:path>
            </a:pathLst>
          </a:custGeom>
          <a:noFill/>
          <a:ln w="254000">
            <a:solidFill>
              <a:srgbClr val="FFFF00"/>
            </a:solidFill>
            <a:headEnd type="stealth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1E5A77A-C9B5-4A59-814A-A9F88105FD8B}"/>
              </a:ext>
            </a:extLst>
          </p:cNvPr>
          <p:cNvSpPr txBox="1"/>
          <p:nvPr/>
        </p:nvSpPr>
        <p:spPr>
          <a:xfrm>
            <a:off x="4724160" y="3986937"/>
            <a:ext cx="26681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poly(n) time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9544B3-3043-118D-3F4C-BDCB6222035C}"/>
              </a:ext>
            </a:extLst>
          </p:cNvPr>
          <p:cNvSpPr txBox="1"/>
          <p:nvPr/>
        </p:nvSpPr>
        <p:spPr>
          <a:xfrm>
            <a:off x="9339498" y="1787784"/>
            <a:ext cx="61072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1972: Karp’s 21</a:t>
            </a:r>
          </a:p>
        </p:txBody>
      </p:sp>
    </p:spTree>
    <p:extLst>
      <p:ext uri="{BB962C8B-B14F-4D97-AF65-F5344CB8AC3E}">
        <p14:creationId xmlns:p14="http://schemas.microsoft.com/office/powerpoint/2010/main" val="3946683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2DCFD-5D37-9FEA-E500-5B3F47982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CF0E51A-96FB-26DE-579E-1B98CEC0ECD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We are stuck on many problems,</a:t>
                </a:r>
                <a:br>
                  <a:rPr lang="en-US" dirty="0"/>
                </a:br>
                <a:r>
                  <a:rPr lang="en-US" dirty="0"/>
                  <a:t>even just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time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CF0E51A-96FB-26DE-579E-1B98CEC0EC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727" t="-8403" b="-231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B1F2AB-49D7-54DE-ADFB-7605E6CB83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845734"/>
                <a:ext cx="11734800" cy="4023360"/>
              </a:xfrm>
            </p:spPr>
            <p:txBody>
              <a:bodyPr>
                <a:normAutofit/>
              </a:bodyPr>
              <a:lstStyle/>
              <a:p>
                <a:r>
                  <a:rPr lang="en-US" sz="2800" dirty="0"/>
                  <a:t>No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2−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sup>
                    </m:sSup>
                  </m:oMath>
                </a14:m>
                <a:r>
                  <a:rPr lang="en-US" sz="2800" dirty="0"/>
                  <a:t> time algorithms known for: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800" dirty="0"/>
                  <a:t> Many </a:t>
                </a:r>
                <a:r>
                  <a:rPr lang="en-US" sz="2800" dirty="0">
                    <a:solidFill>
                      <a:schemeClr val="accent3"/>
                    </a:solidFill>
                  </a:rPr>
                  <a:t>sequence-similarity</a:t>
                </a:r>
                <a:r>
                  <a:rPr lang="en-US" sz="2800" dirty="0"/>
                  <a:t> problems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800" dirty="0"/>
                  <a:t> Many problems in </a:t>
                </a:r>
                <a:r>
                  <a:rPr lang="en-US" sz="2800" dirty="0">
                    <a:solidFill>
                      <a:schemeClr val="accent3"/>
                    </a:solidFill>
                  </a:rPr>
                  <a:t>computational geometry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800" dirty="0"/>
                  <a:t> Many </a:t>
                </a:r>
                <a:r>
                  <a:rPr lang="en-US" sz="2800" dirty="0">
                    <a:solidFill>
                      <a:schemeClr val="accent3"/>
                    </a:solidFill>
                  </a:rPr>
                  <a:t>graph problems </a:t>
                </a:r>
                <a:r>
                  <a:rPr lang="en-US" sz="2800" dirty="0"/>
                  <a:t>in </a:t>
                </a:r>
                <a:r>
                  <a:rPr lang="en-US" sz="2800" dirty="0">
                    <a:solidFill>
                      <a:schemeClr val="bg2">
                        <a:lumMod val="50000"/>
                      </a:schemeClr>
                    </a:solidFill>
                  </a:rPr>
                  <a:t>sparse</a:t>
                </a:r>
                <a:r>
                  <a:rPr lang="en-US" sz="2800" dirty="0"/>
                  <a:t> graphs: e.g.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800" dirty="0"/>
                  <a:t> Many other problems …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B1F2AB-49D7-54DE-ADFB-7605E6CB83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845734"/>
                <a:ext cx="11734800" cy="4023360"/>
              </a:xfrm>
              <a:blipFill>
                <a:blip r:embed="rId4"/>
                <a:stretch>
                  <a:fillRect l="-1714" t="-2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93EFECE6-8155-8EC7-5107-06DF6987BE1C}"/>
              </a:ext>
            </a:extLst>
          </p:cNvPr>
          <p:cNvSpPr txBox="1"/>
          <p:nvPr/>
        </p:nvSpPr>
        <p:spPr>
          <a:xfrm>
            <a:off x="2352651" y="4944522"/>
            <a:ext cx="815843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3000" b="1" dirty="0"/>
              <a:t>Are we stuck because of the same reason?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DA25AE-F2AB-D51B-69EE-697DF75F6E40}"/>
              </a:ext>
            </a:extLst>
          </p:cNvPr>
          <p:cNvSpPr txBox="1"/>
          <p:nvPr/>
        </p:nvSpPr>
        <p:spPr>
          <a:xfrm>
            <a:off x="2931051" y="4266173"/>
            <a:ext cx="60945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3200" b="1" dirty="0"/>
              <a:t>Why are we stuck?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0337201-36F9-003F-ECAE-FB0631FC0062}"/>
                  </a:ext>
                </a:extLst>
              </p:cNvPr>
              <p:cNvSpPr txBox="1"/>
              <p:nvPr/>
            </p:nvSpPr>
            <p:spPr>
              <a:xfrm>
                <a:off x="269507" y="5592095"/>
                <a:ext cx="11252229" cy="564450"/>
              </a:xfrm>
              <a:prstGeom prst="rect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r"/>
                <a:r>
                  <a:rPr lang="en-US" sz="3000" b="1" dirty="0">
                    <a:solidFill>
                      <a:srgbClr val="C00000"/>
                    </a:solidFill>
                  </a:rPr>
                  <a:t>We need a complexity theory about concrete runtimes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US" sz="3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3000" b="1" dirty="0">
                    <a:solidFill>
                      <a:srgbClr val="C00000"/>
                    </a:solidFill>
                  </a:rPr>
                  <a:t> vs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US" sz="3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3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3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𝝐</m:t>
                        </m:r>
                      </m:sup>
                    </m:sSup>
                  </m:oMath>
                </a14:m>
                <a:r>
                  <a:rPr lang="en-US" sz="3000" b="1" dirty="0">
                    <a:solidFill>
                      <a:srgbClr val="C00000"/>
                    </a:solidFill>
                  </a:rPr>
                  <a:t>)…</a:t>
                </a: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0337201-36F9-003F-ECAE-FB0631FC0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507" y="5592095"/>
                <a:ext cx="11252229" cy="564450"/>
              </a:xfrm>
              <a:prstGeom prst="rect">
                <a:avLst/>
              </a:prstGeom>
              <a:blipFill>
                <a:blip r:embed="rId5"/>
                <a:stretch>
                  <a:fillRect t="-9375" r="-1190" b="-30208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07570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17DF3-14D9-2BED-8B75-7D814B3D4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B7165-3598-A5CE-C805-AD293E1A0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04F14-8F49-0329-C167-6FA9122430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607040" cy="4023360"/>
          </a:xfrm>
        </p:spPr>
        <p:txBody>
          <a:bodyPr>
            <a:normAutofit/>
          </a:bodyPr>
          <a:lstStyle/>
          <a:p>
            <a:r>
              <a:rPr lang="en-US" sz="3200" dirty="0"/>
              <a:t>Fine-Grained Complexity </a:t>
            </a:r>
            <a:r>
              <a:rPr lang="en-US" sz="2400" b="1" i="1" dirty="0">
                <a:solidFill>
                  <a:schemeClr val="bg2">
                    <a:lumMod val="25000"/>
                  </a:schemeClr>
                </a:solidFill>
              </a:rPr>
              <a:t>(a complexity theory about concrete runtimes)</a:t>
            </a:r>
            <a:endParaRPr lang="en-US" sz="2400" i="1" dirty="0"/>
          </a:p>
          <a:p>
            <a:pPr marL="0" indent="0">
              <a:buNone/>
            </a:pPr>
            <a:endParaRPr lang="en-US" sz="3200" dirty="0"/>
          </a:p>
          <a:p>
            <a:r>
              <a:rPr lang="en-US" sz="3200" dirty="0"/>
              <a:t>Some basic results in FGC (with proofs)</a:t>
            </a:r>
          </a:p>
          <a:p>
            <a:endParaRPr lang="en-US" sz="3200" dirty="0"/>
          </a:p>
          <a:p>
            <a:endParaRPr lang="en-US" sz="3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9AD0D4-CE29-84E4-7E65-E30B570F891E}"/>
              </a:ext>
            </a:extLst>
          </p:cNvPr>
          <p:cNvSpPr/>
          <p:nvPr/>
        </p:nvSpPr>
        <p:spPr>
          <a:xfrm>
            <a:off x="991402" y="1737360"/>
            <a:ext cx="10453036" cy="83258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63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66866"/>
            <a:ext cx="10058400" cy="1450757"/>
          </a:xfrm>
        </p:spPr>
        <p:txBody>
          <a:bodyPr/>
          <a:lstStyle/>
          <a:p>
            <a:r>
              <a:rPr lang="en-US" dirty="0"/>
              <a:t>Time hierarchy theorems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85800" y="1752877"/>
                <a:ext cx="10820400" cy="4744420"/>
              </a:xfrm>
            </p:spPr>
            <p:txBody>
              <a:bodyPr>
                <a:normAutofit fontScale="85000" lnSpcReduction="10000"/>
              </a:bodyPr>
              <a:lstStyle/>
              <a:p>
                <a:pPr>
                  <a:buNone/>
                </a:pPr>
                <a:r>
                  <a:rPr lang="en-US" sz="2800" dirty="0"/>
                  <a:t>For most natural computational models one can prove:</a:t>
                </a:r>
              </a:p>
              <a:p>
                <a:pPr algn="ctr">
                  <a:lnSpc>
                    <a:spcPct val="120000"/>
                  </a:lnSpc>
                  <a:buNone/>
                </a:pPr>
                <a:r>
                  <a:rPr lang="en-US" sz="3000" dirty="0"/>
                  <a:t>	THM:</a:t>
                </a:r>
                <a:r>
                  <a:rPr lang="en-US" sz="3000" b="1" dirty="0"/>
                  <a:t> For any constant integer </a:t>
                </a:r>
                <a14:m>
                  <m:oMath xmlns:m="http://schemas.openxmlformats.org/officeDocument/2006/math">
                    <m:r>
                      <a:rPr lang="en-US" sz="3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sz="3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3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sz="3000" b="1" dirty="0"/>
                  <a:t>, there </a:t>
                </a:r>
                <a:r>
                  <a:rPr lang="en-US" sz="3000" b="1" i="1" dirty="0">
                    <a:solidFill>
                      <a:srgbClr val="7030A0"/>
                    </a:solidFill>
                  </a:rPr>
                  <a:t>exist</a:t>
                </a:r>
                <a:r>
                  <a:rPr lang="en-US" sz="3000" b="1" dirty="0"/>
                  <a:t> problems solvable in </a:t>
                </a:r>
                <a14:m>
                  <m:oMath xmlns:m="http://schemas.openxmlformats.org/officeDocument/2006/math">
                    <m:r>
                      <a:rPr lang="en-US" sz="3000" b="1" i="1" smtClean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sz="30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30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0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p>
                            <m:r>
                              <a:rPr lang="en-US" sz="30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sup>
                        </m:sSup>
                      </m:e>
                    </m:d>
                    <m:r>
                      <a:rPr lang="en-US" sz="3000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000" b="1" dirty="0"/>
                  <a:t>time but not in </a:t>
                </a:r>
                <a14:m>
                  <m:oMath xmlns:m="http://schemas.openxmlformats.org/officeDocument/2006/math">
                    <m:r>
                      <a:rPr lang="en-US" sz="3000" b="1" i="1" smtClean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sz="30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30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0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p>
                            <m:r>
                              <a:rPr lang="en-US" sz="30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  <m:r>
                              <a:rPr lang="en-US" sz="3000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3000" b="1" i="1" smtClean="0">
                                <a:latin typeface="Cambria Math" panose="02040503050406030204" pitchFamily="18" charset="0"/>
                              </a:rPr>
                              <m:t>𝝐</m:t>
                            </m:r>
                          </m:sup>
                        </m:sSup>
                      </m:e>
                    </m:d>
                    <m:r>
                      <a:rPr lang="en-US" sz="3000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000" b="1" dirty="0"/>
                  <a:t>time for any </a:t>
                </a:r>
                <a14:m>
                  <m:oMath xmlns:m="http://schemas.openxmlformats.org/officeDocument/2006/math">
                    <m:r>
                      <a:rPr lang="en-US" sz="3000" b="1" i="1" smtClean="0">
                        <a:latin typeface="Cambria Math" panose="02040503050406030204" pitchFamily="18" charset="0"/>
                      </a:rPr>
                      <m:t>𝝐</m:t>
                    </m:r>
                    <m:r>
                      <a:rPr lang="en-US" sz="3000" b="1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300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3000" b="1" dirty="0"/>
                  <a:t>.</a:t>
                </a:r>
              </a:p>
              <a:p>
                <a:pPr algn="ctr">
                  <a:lnSpc>
                    <a:spcPct val="120000"/>
                  </a:lnSpc>
                  <a:buNone/>
                </a:pPr>
                <a:endParaRPr lang="en-US" dirty="0"/>
              </a:p>
              <a:p>
                <a:pPr algn="ctr">
                  <a:lnSpc>
                    <a:spcPct val="120000"/>
                  </a:lnSpc>
                  <a:buNone/>
                </a:pPr>
                <a:r>
                  <a:rPr lang="en-US" sz="3500" dirty="0"/>
                  <a:t>It is completely unclear how to show that a </a:t>
                </a:r>
                <a:r>
                  <a:rPr lang="en-US" sz="3500" i="1" dirty="0">
                    <a:solidFill>
                      <a:srgbClr val="C00000"/>
                    </a:solidFill>
                  </a:rPr>
                  <a:t>particular</a:t>
                </a:r>
                <a:r>
                  <a:rPr lang="en-US" sz="3500" dirty="0">
                    <a:solidFill>
                      <a:srgbClr val="C00000"/>
                    </a:solidFill>
                  </a:rPr>
                  <a:t> </a:t>
                </a:r>
                <a:r>
                  <a:rPr lang="en-US" sz="3500" dirty="0"/>
                  <a:t>problem is </a:t>
                </a:r>
              </a:p>
              <a:p>
                <a:pPr algn="ctr">
                  <a:lnSpc>
                    <a:spcPct val="120000"/>
                  </a:lnSpc>
                  <a:buNone/>
                </a:pPr>
                <a:r>
                  <a:rPr lang="en-US" sz="3500" dirty="0"/>
                  <a:t>not in </a:t>
                </a:r>
                <a14:m>
                  <m:oMath xmlns:m="http://schemas.openxmlformats.org/officeDocument/2006/math">
                    <m:r>
                      <a:rPr lang="en-US" sz="3500" b="1" i="1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sz="35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35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500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p>
                            <m:r>
                              <a:rPr lang="en-US" sz="3500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  <m:r>
                              <a:rPr lang="en-US" sz="35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3500" b="1" i="1">
                                <a:latin typeface="Cambria Math" panose="02040503050406030204" pitchFamily="18" charset="0"/>
                              </a:rPr>
                              <m:t>𝝐</m:t>
                            </m:r>
                          </m:sup>
                        </m:sSup>
                      </m:e>
                    </m:d>
                    <m:r>
                      <a:rPr lang="en-US" sz="3500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500" dirty="0"/>
                  <a:t>time for any </a:t>
                </a:r>
                <a14:m>
                  <m:oMath xmlns:m="http://schemas.openxmlformats.org/officeDocument/2006/math">
                    <m:r>
                      <a:rPr lang="en-US" sz="3500" b="1" i="1">
                        <a:latin typeface="Cambria Math" panose="02040503050406030204" pitchFamily="18" charset="0"/>
                      </a:rPr>
                      <m:t>𝝐</m:t>
                    </m:r>
                    <m:r>
                      <a:rPr lang="en-US" sz="3500" b="1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3500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3500" b="1" dirty="0"/>
                  <a:t>.</a:t>
                </a:r>
              </a:p>
              <a:p>
                <a:pPr>
                  <a:lnSpc>
                    <a:spcPct val="120000"/>
                  </a:lnSpc>
                  <a:buNone/>
                </a:pPr>
                <a:endParaRPr lang="en-US" sz="800" dirty="0"/>
              </a:p>
              <a:p>
                <a:pPr algn="ctr">
                  <a:buNone/>
                </a:pPr>
                <a:r>
                  <a:rPr lang="en-US" sz="4200" i="1" dirty="0"/>
                  <a:t>It is not even known if </a:t>
                </a:r>
                <a14:m>
                  <m:oMath xmlns:m="http://schemas.openxmlformats.org/officeDocument/2006/math">
                    <m:r>
                      <a:rPr lang="en-US" sz="42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4200" i="1" dirty="0"/>
                  <a:t>-SAT is in linear time!</a:t>
                </a:r>
              </a:p>
              <a:p>
                <a:pPr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1752877"/>
                <a:ext cx="10820400" cy="4744420"/>
              </a:xfrm>
              <a:blipFill>
                <a:blip r:embed="rId3"/>
                <a:stretch>
                  <a:fillRect l="-1746" t="-24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40EE9-8091-D09D-D6E5-E43CCE5CD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7130BC-DF87-6C3D-0C3C-90734B131E6B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2454464" y="1030751"/>
            <a:ext cx="4938713" cy="736600"/>
          </a:xfrm>
        </p:spPr>
        <p:txBody>
          <a:bodyPr>
            <a:normAutofit/>
          </a:bodyPr>
          <a:lstStyle/>
          <a:p>
            <a:r>
              <a:rPr lang="en-US" sz="2800" dirty="0"/>
              <a:t>Theory of NP-Hardness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2C3D5C-D4FA-20C6-80F7-EEA283FA49F6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6724726" y="1030751"/>
            <a:ext cx="4938712" cy="736600"/>
          </a:xfrm>
        </p:spPr>
        <p:txBody>
          <a:bodyPr>
            <a:normAutofit/>
          </a:bodyPr>
          <a:lstStyle/>
          <a:p>
            <a:r>
              <a:rPr lang="en-US" sz="2800" b="1" dirty="0"/>
              <a:t>Fine-Grained Complexity Theory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F9D9609D-CE3C-EC57-EFF3-0E262EFC1478}"/>
                  </a:ext>
                </a:extLst>
              </p:cNvPr>
              <p:cNvSpPr>
                <a:spLocks noGrp="1"/>
              </p:cNvSpPr>
              <p:nvPr>
                <p:ph sz="quarter" idx="4294967295"/>
              </p:nvPr>
            </p:nvSpPr>
            <p:spPr>
              <a:xfrm>
                <a:off x="6831336" y="1744513"/>
                <a:ext cx="5075237" cy="41941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Problem </a:t>
                </a:r>
                <a:r>
                  <a:rPr lang="en-US" sz="2400" dirty="0">
                    <a:solidFill>
                      <a:srgbClr val="0070C0"/>
                    </a:solidFill>
                  </a:rPr>
                  <a:t>H</a:t>
                </a:r>
                <a:r>
                  <a:rPr lang="en-US" sz="2400" dirty="0"/>
                  <a:t> has no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sup>
                    </m:sSup>
                  </m:oMath>
                </a14:m>
                <a:r>
                  <a:rPr lang="en-US" sz="2400" dirty="0"/>
                  <a:t>-time algorithms for any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US" sz="2400" dirty="0">
                  <a:solidFill>
                    <a:srgbClr val="002060"/>
                  </a:solidFill>
                </a:endParaRPr>
              </a:p>
              <a:p>
                <a:pPr marL="0" indent="0">
                  <a:buNone/>
                </a:pPr>
                <a:r>
                  <a:rPr lang="en-US" sz="2200" dirty="0">
                    <a:solidFill>
                      <a:schemeClr val="bg1">
                        <a:lumMod val="50000"/>
                      </a:schemeClr>
                    </a:solidFill>
                  </a:rPr>
                  <a:t>(e.g., SETH, 3SUM, APSP,… )</a:t>
                </a:r>
              </a:p>
            </p:txBody>
          </p:sp>
        </mc:Choice>
        <mc:Fallback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F9D9609D-CE3C-EC57-EFF3-0E262EFC14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294967295"/>
              </p:nvPr>
            </p:nvSpPr>
            <p:spPr>
              <a:xfrm>
                <a:off x="6831336" y="1744513"/>
                <a:ext cx="5075237" cy="4194175"/>
              </a:xfrm>
              <a:blipFill>
                <a:blip r:embed="rId3"/>
                <a:stretch>
                  <a:fillRect l="-3726" t="-2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4063AB7-1AD7-481E-5755-C4E87AB94431}"/>
              </a:ext>
            </a:extLst>
          </p:cNvPr>
          <p:cNvSpPr/>
          <p:nvPr/>
        </p:nvSpPr>
        <p:spPr>
          <a:xfrm>
            <a:off x="6515419" y="108213"/>
            <a:ext cx="3625719" cy="820049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mimics NP-hardness, but is about concrete runtimes.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9964B6-A092-2D43-D206-693BEBB45CDF}"/>
              </a:ext>
            </a:extLst>
          </p:cNvPr>
          <p:cNvSpPr txBox="1"/>
          <p:nvPr/>
        </p:nvSpPr>
        <p:spPr>
          <a:xfrm>
            <a:off x="255516" y="1744513"/>
            <a:ext cx="192151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Hardness Hypothesis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A18054B-4383-0003-4CD4-9AC9D00EE716}"/>
                  </a:ext>
                </a:extLst>
              </p:cNvPr>
              <p:cNvSpPr txBox="1"/>
              <p:nvPr/>
            </p:nvSpPr>
            <p:spPr>
              <a:xfrm>
                <a:off x="2556080" y="1746707"/>
                <a:ext cx="3818159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rgbClr val="002060"/>
                    </a:solidFill>
                  </a:rPr>
                  <a:t>P ≠ NP                       </a:t>
                </a:r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 (or equivalently, </a:t>
                </a:r>
                <a:r>
                  <a:rPr lang="en-US" sz="2400" dirty="0">
                    <a:solidFill>
                      <a:srgbClr val="0070C0"/>
                    </a:solidFill>
                  </a:rPr>
                  <a:t>3</a:t>
                </a:r>
                <a:r>
                  <a:rPr lang="en-US" sz="2400" dirty="0">
                    <a:solidFill>
                      <a:schemeClr val="tx1"/>
                    </a:solidFill>
                  </a:rPr>
                  <a:t>-</a:t>
                </a:r>
                <a:r>
                  <a:rPr lang="en-US" sz="2400" dirty="0">
                    <a:solidFill>
                      <a:srgbClr val="0070C0"/>
                    </a:solidFill>
                  </a:rPr>
                  <a:t>SAT</a:t>
                </a:r>
                <a:r>
                  <a:rPr lang="en-US" sz="2400" dirty="0">
                    <a:solidFill>
                      <a:schemeClr val="tx1"/>
                    </a:solidFill>
                  </a:rPr>
                  <a:t> has no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poly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-time algorithms)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A18054B-4383-0003-4CD4-9AC9D00EE7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6080" y="1746707"/>
                <a:ext cx="3818159" cy="1200329"/>
              </a:xfrm>
              <a:prstGeom prst="rect">
                <a:avLst/>
              </a:prstGeom>
              <a:blipFill>
                <a:blip r:embed="rId4"/>
                <a:stretch>
                  <a:fillRect l="-2392" t="-4082" b="-112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0D78D4F7-E8BC-418B-596B-66486900AA56}"/>
              </a:ext>
            </a:extLst>
          </p:cNvPr>
          <p:cNvSpPr txBox="1"/>
          <p:nvPr/>
        </p:nvSpPr>
        <p:spPr>
          <a:xfrm>
            <a:off x="255516" y="4438630"/>
            <a:ext cx="2264262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Conclusion </a:t>
            </a:r>
            <a:r>
              <a:rPr lang="en-US" sz="2400" dirty="0">
                <a:solidFill>
                  <a:srgbClr val="C00000"/>
                </a:solidFill>
              </a:rPr>
              <a:t>(for example):</a:t>
            </a:r>
            <a:endParaRPr lang="en-US" sz="2800" dirty="0">
              <a:solidFill>
                <a:srgbClr val="C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2049E1-2460-AC3B-F135-41E37AECAE68}"/>
              </a:ext>
            </a:extLst>
          </p:cNvPr>
          <p:cNvSpPr txBox="1"/>
          <p:nvPr/>
        </p:nvSpPr>
        <p:spPr>
          <a:xfrm>
            <a:off x="6831336" y="3213437"/>
            <a:ext cx="36690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Fine-Grained Reduction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C1163F-CFCB-2C94-0AC0-684DD2966F58}"/>
              </a:ext>
            </a:extLst>
          </p:cNvPr>
          <p:cNvSpPr txBox="1"/>
          <p:nvPr/>
        </p:nvSpPr>
        <p:spPr>
          <a:xfrm>
            <a:off x="255516" y="3213438"/>
            <a:ext cx="19215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Reduction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527F759-EF12-0215-4BE5-3E081B226BD5}"/>
              </a:ext>
            </a:extLst>
          </p:cNvPr>
          <p:cNvSpPr txBox="1"/>
          <p:nvPr/>
        </p:nvSpPr>
        <p:spPr>
          <a:xfrm>
            <a:off x="2519778" y="4418637"/>
            <a:ext cx="333060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</a:rPr>
              <a:t>Assuming P ≠ NP,</a:t>
            </a:r>
          </a:p>
          <a:p>
            <a:r>
              <a:rPr lang="en-US" sz="2400" dirty="0">
                <a:solidFill>
                  <a:srgbClr val="C00000"/>
                </a:solidFill>
              </a:rPr>
              <a:t>CLIQUE has no poly-time algorithms.                       </a:t>
            </a:r>
          </a:p>
          <a:p>
            <a:endParaRPr lang="en-US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FCD254-0236-99FF-7A68-A97B5703C634}"/>
              </a:ext>
            </a:extLst>
          </p:cNvPr>
          <p:cNvSpPr txBox="1"/>
          <p:nvPr/>
        </p:nvSpPr>
        <p:spPr>
          <a:xfrm>
            <a:off x="2519778" y="3213438"/>
            <a:ext cx="38181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Polynomial Time Reduction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EAF5AEA-B32A-D471-A67A-63D2673EE564}"/>
                  </a:ext>
                </a:extLst>
              </p:cNvPr>
              <p:cNvSpPr txBox="1"/>
              <p:nvPr/>
            </p:nvSpPr>
            <p:spPr>
              <a:xfrm>
                <a:off x="6831336" y="4397145"/>
                <a:ext cx="4395583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rgbClr val="002060"/>
                    </a:solidFill>
                  </a:rPr>
                  <a:t>Assuming SETH,</a:t>
                </a:r>
              </a:p>
              <a:p>
                <a:r>
                  <a:rPr lang="en-US" sz="2400" dirty="0">
                    <a:solidFill>
                      <a:srgbClr val="C00000"/>
                    </a:solidFill>
                  </a:rPr>
                  <a:t>Edit Distance has no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2−</m:t>
                        </m:r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-time algorithms for any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EAF5AEA-B32A-D471-A67A-63D2673EE5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1336" y="4397145"/>
                <a:ext cx="4395583" cy="1200329"/>
              </a:xfrm>
              <a:prstGeom prst="rect">
                <a:avLst/>
              </a:prstGeom>
              <a:blipFill>
                <a:blip r:embed="rId5"/>
                <a:stretch>
                  <a:fillRect l="-2219" t="-4061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3F93FA2B-E597-58C1-1968-1BF0E1EF4F2A}"/>
              </a:ext>
            </a:extLst>
          </p:cNvPr>
          <p:cNvSpPr txBox="1"/>
          <p:nvPr/>
        </p:nvSpPr>
        <p:spPr>
          <a:xfrm>
            <a:off x="2527514" y="3553289"/>
            <a:ext cx="395333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(“</a:t>
            </a:r>
            <a:r>
              <a:rPr lang="en-US" sz="2200" u="sng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coarse-grained</a:t>
            </a:r>
            <a:r>
              <a:rPr lang="en-US" sz="2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”: allowing polynomial blowup)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5D8B91F-E47B-05A0-2D68-C5DED1FE5D12}"/>
              </a:ext>
            </a:extLst>
          </p:cNvPr>
          <p:cNvSpPr txBox="1"/>
          <p:nvPr/>
        </p:nvSpPr>
        <p:spPr>
          <a:xfrm>
            <a:off x="2595305" y="5653797"/>
            <a:ext cx="326843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(Conditional hardness)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191289-555A-D14E-59BA-D92A968EE638}"/>
              </a:ext>
            </a:extLst>
          </p:cNvPr>
          <p:cNvSpPr txBox="1"/>
          <p:nvPr/>
        </p:nvSpPr>
        <p:spPr>
          <a:xfrm>
            <a:off x="6872702" y="5653797"/>
            <a:ext cx="326843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(Conditional hardness)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F701D76-EED0-AD53-124C-138F1D8771B7}"/>
              </a:ext>
            </a:extLst>
          </p:cNvPr>
          <p:cNvSpPr txBox="1"/>
          <p:nvPr/>
        </p:nvSpPr>
        <p:spPr>
          <a:xfrm>
            <a:off x="1026887" y="5653797"/>
            <a:ext cx="1409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equivalent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F66252D-5B3B-9F91-A576-E126771DF171}"/>
              </a:ext>
            </a:extLst>
          </p:cNvPr>
          <p:cNvCxnSpPr>
            <a:stCxn id="21" idx="0"/>
          </p:cNvCxnSpPr>
          <p:nvPr/>
        </p:nvCxnSpPr>
        <p:spPr>
          <a:xfrm flipV="1">
            <a:off x="1731632" y="4716393"/>
            <a:ext cx="850316" cy="9374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79C7BEC-57C8-1D94-16BB-DC2C1F726FAC}"/>
              </a:ext>
            </a:extLst>
          </p:cNvPr>
          <p:cNvCxnSpPr>
            <a:cxnSpLocks/>
          </p:cNvCxnSpPr>
          <p:nvPr/>
        </p:nvCxnSpPr>
        <p:spPr>
          <a:xfrm flipV="1">
            <a:off x="1890560" y="5203467"/>
            <a:ext cx="794810" cy="4610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9476C29-7F9E-1374-0E73-40A44CAD44B5}"/>
              </a:ext>
            </a:extLst>
          </p:cNvPr>
          <p:cNvSpPr txBox="1"/>
          <p:nvPr/>
        </p:nvSpPr>
        <p:spPr>
          <a:xfrm>
            <a:off x="9778832" y="5699963"/>
            <a:ext cx="258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(</a:t>
            </a:r>
            <a:r>
              <a:rPr lang="en-US" u="sng" dirty="0">
                <a:solidFill>
                  <a:schemeClr val="accent1">
                    <a:lumMod val="75000"/>
                  </a:schemeClr>
                </a:solidFill>
              </a:rPr>
              <a:t>sometimes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can show equivalence in FGC)</a:t>
            </a:r>
          </a:p>
        </p:txBody>
      </p:sp>
    </p:spTree>
    <p:extLst>
      <p:ext uri="{BB962C8B-B14F-4D97-AF65-F5344CB8AC3E}">
        <p14:creationId xmlns:p14="http://schemas.microsoft.com/office/powerpoint/2010/main" val="2816243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2" grpId="0" animBg="1"/>
      <p:bldP spid="10" grpId="0"/>
      <p:bldP spid="13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99483-1D5B-4D87-6DAA-C08FF4632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159D2-FBFD-7313-573A-268E32AA9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C22DD3-D432-F78E-2D56-D4A2296577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607040" cy="4023360"/>
          </a:xfrm>
        </p:spPr>
        <p:txBody>
          <a:bodyPr>
            <a:normAutofit/>
          </a:bodyPr>
          <a:lstStyle/>
          <a:p>
            <a:r>
              <a:rPr lang="en-US" sz="3200" dirty="0"/>
              <a:t>Fine-Grained Complexity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3000" dirty="0"/>
              <a:t>Popular Hardness Hypotheses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3000" dirty="0"/>
              <a:t>Fine-Grained Reduction</a:t>
            </a:r>
          </a:p>
          <a:p>
            <a:pPr marL="0" indent="0">
              <a:buNone/>
            </a:pPr>
            <a:endParaRPr lang="en-US" sz="3200" dirty="0"/>
          </a:p>
          <a:p>
            <a:r>
              <a:rPr lang="en-US" sz="3200" dirty="0"/>
              <a:t>Some basic results in FGC (with proofs)</a:t>
            </a:r>
          </a:p>
          <a:p>
            <a:endParaRPr lang="en-US" sz="3200" dirty="0"/>
          </a:p>
          <a:p>
            <a:endParaRPr lang="en-US" sz="3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193393-E263-F741-4BB7-0D8DB0BBD626}"/>
              </a:ext>
            </a:extLst>
          </p:cNvPr>
          <p:cNvSpPr/>
          <p:nvPr/>
        </p:nvSpPr>
        <p:spPr>
          <a:xfrm>
            <a:off x="1097280" y="2290812"/>
            <a:ext cx="5496025" cy="58714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225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>
          <a:xfrm>
            <a:off x="1252630" y="512955"/>
            <a:ext cx="8912225" cy="1281112"/>
          </a:xfrm>
        </p:spPr>
        <p:txBody>
          <a:bodyPr>
            <a:normAutofit/>
          </a:bodyPr>
          <a:lstStyle/>
          <a:p>
            <a:r>
              <a:rPr lang="en-US" sz="4000" b="1" dirty="0"/>
              <a:t>SAT is conjectured to be really hard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54004" y="1908190"/>
                <a:ext cx="11762072" cy="4265930"/>
              </a:xfrm>
            </p:spPr>
            <p:txBody>
              <a:bodyPr rtlCol="0">
                <a:normAutofit fontScale="92500" lnSpcReduction="10000"/>
              </a:bodyPr>
              <a:lstStyle/>
              <a:p>
                <a:pPr marL="0" indent="0" fontAlgn="auto">
                  <a:spcAft>
                    <a:spcPts val="0"/>
                  </a:spcAft>
                  <a:buFont typeface="Wingdings 3" charset="2"/>
                  <a:buNone/>
                  <a:defRPr/>
                </a:pPr>
                <a:r>
                  <a:rPr lang="en-US" sz="3000" dirty="0">
                    <a:solidFill>
                      <a:srgbClr val="FF0000"/>
                    </a:solidFill>
                  </a:rPr>
                  <a:t>Strong Exponential Time Hypothesis (SETH) </a:t>
                </a:r>
                <a:r>
                  <a:rPr lang="en-US" sz="3000" dirty="0">
                    <a:solidFill>
                      <a:schemeClr val="tx1"/>
                    </a:solidFill>
                  </a:rPr>
                  <a:t>[IP’01, CIP’10]:</a:t>
                </a:r>
              </a:p>
              <a:p>
                <a:pPr marL="0" indent="0" fontAlgn="auto">
                  <a:spcAft>
                    <a:spcPts val="0"/>
                  </a:spcAft>
                  <a:buFont typeface="Wingdings 3" charset="2"/>
                  <a:buNone/>
                  <a:defRPr/>
                </a:pPr>
                <a:r>
                  <a:rPr lang="en-US" sz="3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30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sz="30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&gt;0, ∃</m:t>
                    </m:r>
                    <m:r>
                      <a:rPr lang="en-US" sz="30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30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≥3</m:t>
                    </m:r>
                  </m:oMath>
                </a14:m>
                <a:r>
                  <a:rPr lang="en-US" sz="3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such that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3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-SAT on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3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variables cannot be solved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d>
                          <m:dPr>
                            <m:ctrlPr>
                              <a:rPr lang="en-US" sz="3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sz="3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sz="3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time.</a:t>
                </a:r>
              </a:p>
              <a:p>
                <a:pPr marL="0" indent="0" fontAlgn="auto">
                  <a:spcAft>
                    <a:spcPts val="0"/>
                  </a:spcAft>
                  <a:buFont typeface="Wingdings 3" charset="2"/>
                  <a:buNone/>
                  <a:defRPr/>
                </a:pP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  <a:p>
                <a:pPr marL="0" indent="0" fontAlgn="auto">
                  <a:spcAft>
                    <a:spcPts val="0"/>
                  </a:spcAft>
                  <a:buFont typeface="Wingdings 3" charset="2"/>
                  <a:buNone/>
                  <a:defRPr/>
                </a:pPr>
                <a:r>
                  <a:rPr lang="en-US" sz="3200" dirty="0">
                    <a:solidFill>
                      <a:schemeClr val="bg1">
                        <a:lumMod val="50000"/>
                      </a:schemeClr>
                    </a:solidFill>
                  </a:rPr>
                  <a:t>Intuitively: “CNF-SAT requires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32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900" dirty="0">
                    <a:solidFill>
                      <a:schemeClr val="bg1">
                        <a:lumMod val="50000"/>
                      </a:schemeClr>
                    </a:solidFill>
                  </a:rPr>
                  <a:t>  </a:t>
                </a:r>
                <a:r>
                  <a:rPr lang="en-US" sz="3200" dirty="0">
                    <a:solidFill>
                      <a:schemeClr val="bg1">
                        <a:lumMod val="50000"/>
                      </a:schemeClr>
                    </a:solidFill>
                  </a:rPr>
                  <a:t>time”</a:t>
                </a:r>
              </a:p>
              <a:p>
                <a:pPr marL="0" indent="0" fontAlgn="auto">
                  <a:spcAft>
                    <a:spcPts val="0"/>
                  </a:spcAft>
                  <a:buFont typeface="Wingdings 3" charset="2"/>
                  <a:buNone/>
                  <a:defRPr/>
                </a:pPr>
                <a:endParaRPr lang="en-US" sz="3200" dirty="0"/>
              </a:p>
              <a:p>
                <a:pPr marL="0" indent="0" algn="ctr" fontAlgn="auto">
                  <a:spcAft>
                    <a:spcPts val="0"/>
                  </a:spcAft>
                  <a:buFont typeface="Wingdings 3" charset="2"/>
                  <a:buNone/>
                  <a:defRPr/>
                </a:pPr>
                <a:r>
                  <a:rPr lang="en-US" sz="3200" b="1" dirty="0">
                    <a:solidFill>
                      <a:srgbClr val="002060"/>
                    </a:solidFill>
                  </a:rPr>
                  <a:t>We can use SETH as our hardness hypothesis.</a:t>
                </a:r>
              </a:p>
              <a:p>
                <a:pPr marL="0" indent="0" algn="ctr" fontAlgn="auto">
                  <a:spcAft>
                    <a:spcPts val="0"/>
                  </a:spcAft>
                  <a:buFont typeface="Wingdings 3" charset="2"/>
                  <a:buNone/>
                  <a:defRPr/>
                </a:pPr>
                <a:endParaRPr lang="en-US" sz="2600" b="1" dirty="0">
                  <a:solidFill>
                    <a:srgbClr val="002060"/>
                  </a:solidFill>
                </a:endParaRPr>
              </a:p>
              <a:p>
                <a:pPr marL="0" indent="0" algn="ctr" fontAlgn="auto">
                  <a:spcAft>
                    <a:spcPts val="0"/>
                  </a:spcAft>
                  <a:buFont typeface="Wingdings 3" charset="2"/>
                  <a:buNone/>
                  <a:defRPr/>
                </a:pPr>
                <a:r>
                  <a:rPr lang="en-US" sz="2600" dirty="0">
                    <a:solidFill>
                      <a:schemeClr val="tx1"/>
                    </a:solidFill>
                  </a:rPr>
                  <a:t>Besides SETH, there are 3 other commonly used hypotheses about the </a:t>
                </a:r>
                <a:r>
                  <a:rPr lang="en-US" sz="2600" b="1" dirty="0">
                    <a:solidFill>
                      <a:srgbClr val="002060"/>
                    </a:solidFill>
                  </a:rPr>
                  <a:t>3SUM, OV, APSP problems.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54004" y="1908190"/>
                <a:ext cx="11762072" cy="4265930"/>
              </a:xfrm>
              <a:blipFill>
                <a:blip r:embed="rId3"/>
                <a:stretch>
                  <a:fillRect l="-1969" t="-3143" r="-10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D9D1AAF5-462B-4F0C-8AF3-EDF149EFDF92}"/>
                  </a:ext>
                </a:extLst>
              </p:cNvPr>
              <p:cNvSpPr/>
              <p:nvPr/>
            </p:nvSpPr>
            <p:spPr>
              <a:xfrm>
                <a:off x="9193620" y="751367"/>
                <a:ext cx="2870790" cy="92857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/>
                  <a:t>Much Stronger than P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sz="3200" dirty="0"/>
                  <a:t> NP!!!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D9D1AAF5-462B-4F0C-8AF3-EDF149EFDF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3620" y="751367"/>
                <a:ext cx="2870790" cy="928577"/>
              </a:xfrm>
              <a:prstGeom prst="rect">
                <a:avLst/>
              </a:prstGeom>
              <a:blipFill>
                <a:blip r:embed="rId4"/>
                <a:stretch>
                  <a:fillRect l="-1055" t="-14744" r="-4219" b="-275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5125591" y="2414471"/>
            <a:ext cx="2185808" cy="73871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>
                <a:solidFill>
                  <a:schemeClr val="tx1"/>
                </a:solidFill>
              </a:rPr>
              <a:t>Orthogonal  vectors</a:t>
            </a:r>
          </a:p>
        </p:txBody>
      </p:sp>
      <p:sp>
        <p:nvSpPr>
          <p:cNvPr id="5" name="Oval 4"/>
          <p:cNvSpPr/>
          <p:nvPr/>
        </p:nvSpPr>
        <p:spPr>
          <a:xfrm>
            <a:off x="3550045" y="3679827"/>
            <a:ext cx="1169988" cy="914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>
                <a:solidFill>
                  <a:schemeClr val="tx1"/>
                </a:solidFill>
              </a:rPr>
              <a:t>3SUM</a:t>
            </a:r>
          </a:p>
        </p:txBody>
      </p:sp>
      <p:sp>
        <p:nvSpPr>
          <p:cNvPr id="6" name="Oval 5"/>
          <p:cNvSpPr/>
          <p:nvPr/>
        </p:nvSpPr>
        <p:spPr>
          <a:xfrm>
            <a:off x="7563487" y="3627883"/>
            <a:ext cx="1108075" cy="914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chemeClr val="tx1"/>
                </a:solidFill>
              </a:rPr>
              <a:t>APSP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Rectangle 15"/>
              <p:cNvSpPr/>
              <p:nvPr/>
            </p:nvSpPr>
            <p:spPr>
              <a:xfrm>
                <a:off x="402998" y="3407382"/>
                <a:ext cx="3148553" cy="1131217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>
                  <a:spcAft>
                    <a:spcPts val="0"/>
                  </a:spcAft>
                  <a:defRPr/>
                </a:pPr>
                <a:r>
                  <a:rPr lang="en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Given a set S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numbers, are there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0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with </a:t>
                </a:r>
              </a:p>
              <a:p>
                <a:pPr algn="ctr" fontAlgn="auto">
                  <a:spcAft>
                    <a:spcPts val="0"/>
                  </a:spcAft>
                  <a:defRPr/>
                </a:pP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sz="2000" b="1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1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sz="2000" b="1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1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sz="2000" b="1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1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?</a:t>
                </a:r>
              </a:p>
            </p:txBody>
          </p:sp>
        </mc:Choice>
        <mc:Fallback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998" y="3407382"/>
                <a:ext cx="3148553" cy="1131217"/>
              </a:xfrm>
              <a:prstGeom prst="rect">
                <a:avLst/>
              </a:prstGeom>
              <a:blipFill>
                <a:blip r:embed="rId3"/>
                <a:stretch>
                  <a:fillRect r="-962" b="-26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/>
          <p:cNvSpPr/>
          <p:nvPr/>
        </p:nvSpPr>
        <p:spPr>
          <a:xfrm>
            <a:off x="8667887" y="3237750"/>
            <a:ext cx="3157980" cy="163240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lnSpc>
                <a:spcPct val="120000"/>
              </a:lnSpc>
              <a:spcAft>
                <a:spcPts val="100"/>
              </a:spcAft>
              <a:defRPr/>
            </a:pPr>
            <a:r>
              <a:rPr lang="en-US" sz="2000" b="1" dirty="0">
                <a:solidFill>
                  <a:srgbClr val="C00000"/>
                </a:solidFill>
              </a:rPr>
              <a:t>All pairs shortest paths</a:t>
            </a:r>
            <a:r>
              <a:rPr lang="en-US" sz="2000" dirty="0">
                <a:solidFill>
                  <a:srgbClr val="C00000"/>
                </a:solidFill>
              </a:rPr>
              <a:t>: 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given an n-node weighted graph, find the 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distance 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between every two nodes.</a:t>
            </a:r>
            <a:endParaRPr lang="en-US" sz="2000" b="1" dirty="0">
              <a:solidFill>
                <a:prstClr val="black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Rectangle 17"/>
              <p:cNvSpPr/>
              <p:nvPr/>
            </p:nvSpPr>
            <p:spPr>
              <a:xfrm>
                <a:off x="2780870" y="1126596"/>
                <a:ext cx="3505200" cy="117049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>
                  <a:spcAft>
                    <a:spcPts val="0"/>
                  </a:spcAft>
                  <a:defRPr/>
                </a:pPr>
                <a:r>
                  <a:rPr lang="en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Given a set S of n vectors in {0,1}</a:t>
                </a:r>
                <a:r>
                  <a:rPr lang="en-US" sz="2000" baseline="30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d</a:t>
                </a:r>
                <a:r>
                  <a:rPr lang="en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, for d = </a:t>
                </a:r>
                <a:r>
                  <a:rPr lang="el-GR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  <a:cs typeface="Arial"/>
                  </a:rPr>
                  <a:t>ω</a:t>
                </a:r>
                <a:r>
                  <a:rPr lang="en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(log n) are there u, v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S with </a:t>
                </a:r>
                <a:r>
                  <a:rPr lang="en-US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u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⋅</m:t>
                    </m:r>
                  </m:oMath>
                </a14:m>
                <a:r>
                  <a:rPr lang="en-US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v = 0</a:t>
                </a:r>
                <a:r>
                  <a:rPr lang="en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?</a:t>
                </a:r>
              </a:p>
            </p:txBody>
          </p:sp>
        </mc:Choice>
        <mc:Fallback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0870" y="1126596"/>
                <a:ext cx="3505200" cy="1170495"/>
              </a:xfrm>
              <a:prstGeom prst="rect">
                <a:avLst/>
              </a:prstGeom>
              <a:blipFill>
                <a:blip r:embed="rId4"/>
                <a:stretch>
                  <a:fillRect l="-1038" r="-2422" b="-10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/>
          <p:cNvSpPr/>
          <p:nvPr/>
        </p:nvSpPr>
        <p:spPr>
          <a:xfrm>
            <a:off x="221255" y="4589699"/>
            <a:ext cx="4259670" cy="1136178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/>
              <a:t>Easy O(n</a:t>
            </a:r>
            <a:r>
              <a:rPr lang="en-US" sz="2000" baseline="30000" dirty="0"/>
              <a:t>2</a:t>
            </a:r>
            <a:r>
              <a:rPr lang="en-US" sz="2000" dirty="0"/>
              <a:t>) time </a:t>
            </a:r>
            <a:r>
              <a:rPr lang="en-US" sz="2000" dirty="0" err="1"/>
              <a:t>alg</a:t>
            </a:r>
            <a:endParaRPr lang="en-US" sz="2000" dirty="0"/>
          </a:p>
          <a:p>
            <a:r>
              <a:rPr lang="en-US" sz="2000" dirty="0">
                <a:solidFill>
                  <a:schemeClr val="bg1"/>
                </a:solidFill>
              </a:rPr>
              <a:t>[BDP’05]:  ~</a:t>
            </a:r>
            <a:r>
              <a:rPr lang="en-US" sz="2000" b="1" dirty="0">
                <a:solidFill>
                  <a:srgbClr val="FFFF00"/>
                </a:solidFill>
              </a:rPr>
              <a:t>n</a:t>
            </a:r>
            <a:r>
              <a:rPr lang="en-US" sz="2000" b="1" baseline="30000" dirty="0">
                <a:solidFill>
                  <a:srgbClr val="FFFF00"/>
                </a:solidFill>
              </a:rPr>
              <a:t>2</a:t>
            </a:r>
            <a:r>
              <a:rPr lang="en-US" sz="2000" b="1" baseline="30000" dirty="0">
                <a:solidFill>
                  <a:schemeClr val="tx1"/>
                </a:solidFill>
              </a:rPr>
              <a:t> </a:t>
            </a:r>
            <a:r>
              <a:rPr lang="en-US" sz="2000" dirty="0">
                <a:solidFill>
                  <a:schemeClr val="bg1"/>
                </a:solidFill>
              </a:rPr>
              <a:t>/ log</a:t>
            </a:r>
            <a:r>
              <a:rPr lang="en-US" sz="2000" baseline="30000" dirty="0">
                <a:solidFill>
                  <a:schemeClr val="bg1"/>
                </a:solidFill>
              </a:rPr>
              <a:t>2</a:t>
            </a:r>
            <a:r>
              <a:rPr lang="en-US" sz="2000" dirty="0">
                <a:solidFill>
                  <a:schemeClr val="bg1"/>
                </a:solidFill>
              </a:rPr>
              <a:t> n time for integers</a:t>
            </a:r>
          </a:p>
          <a:p>
            <a:r>
              <a:rPr lang="en-US" sz="2000" dirty="0">
                <a:solidFill>
                  <a:schemeClr val="bg1"/>
                </a:solidFill>
              </a:rPr>
              <a:t>[Chan’18] : ~</a:t>
            </a:r>
            <a:r>
              <a:rPr lang="en-US" sz="2000" b="1" dirty="0">
                <a:solidFill>
                  <a:srgbClr val="FFFF00"/>
                </a:solidFill>
              </a:rPr>
              <a:t>n</a:t>
            </a:r>
            <a:r>
              <a:rPr lang="en-US" sz="2000" b="1" baseline="30000" dirty="0">
                <a:solidFill>
                  <a:srgbClr val="FFFF00"/>
                </a:solidFill>
              </a:rPr>
              <a:t>2</a:t>
            </a:r>
            <a:r>
              <a:rPr lang="en-US" sz="2000" b="1" baseline="30000" dirty="0">
                <a:solidFill>
                  <a:schemeClr val="tx1"/>
                </a:solidFill>
              </a:rPr>
              <a:t> </a:t>
            </a:r>
            <a:r>
              <a:rPr lang="en-US" sz="2000" dirty="0">
                <a:solidFill>
                  <a:schemeClr val="bg1"/>
                </a:solidFill>
              </a:rPr>
              <a:t>/ log</a:t>
            </a:r>
            <a:r>
              <a:rPr lang="en-US" sz="2000" baseline="30000" dirty="0">
                <a:solidFill>
                  <a:schemeClr val="bg1"/>
                </a:solidFill>
              </a:rPr>
              <a:t>2</a:t>
            </a:r>
            <a:r>
              <a:rPr lang="en-US" sz="2000" dirty="0">
                <a:solidFill>
                  <a:schemeClr val="bg1"/>
                </a:solidFill>
              </a:rPr>
              <a:t> n time for reals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94681" y="1524564"/>
            <a:ext cx="5277323" cy="889907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/>
              <a:t>Easy O(</a:t>
            </a:r>
            <a:r>
              <a:rPr lang="en-US" sz="2400" b="1" dirty="0">
                <a:solidFill>
                  <a:srgbClr val="FFFF00"/>
                </a:solidFill>
              </a:rPr>
              <a:t>n</a:t>
            </a:r>
            <a:r>
              <a:rPr lang="en-US" sz="2400" b="1" baseline="30000" dirty="0">
                <a:solidFill>
                  <a:srgbClr val="FFFF00"/>
                </a:solidFill>
              </a:rPr>
              <a:t>2</a:t>
            </a:r>
            <a:r>
              <a:rPr lang="en-US" sz="2400" baseline="30000" dirty="0">
                <a:solidFill>
                  <a:srgbClr val="FFFF00"/>
                </a:solidFill>
              </a:rPr>
              <a:t> </a:t>
            </a:r>
            <a:r>
              <a:rPr lang="en-US" sz="2400" dirty="0"/>
              <a:t>d) time </a:t>
            </a:r>
            <a:r>
              <a:rPr lang="en-US" sz="2400" dirty="0" err="1"/>
              <a:t>alg</a:t>
            </a:r>
            <a:endParaRPr lang="en-US" sz="2400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>
                <a:solidFill>
                  <a:schemeClr val="bg1"/>
                </a:solidFill>
              </a:rPr>
              <a:t>Best known [AWY’15]: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>
                <a:solidFill>
                  <a:srgbClr val="FFFF00"/>
                </a:solidFill>
              </a:rPr>
              <a:t>n</a:t>
            </a:r>
            <a:r>
              <a:rPr lang="en-US" sz="2400" b="1" baseline="30000" dirty="0">
                <a:solidFill>
                  <a:srgbClr val="FFFF00"/>
                </a:solidFill>
              </a:rPr>
              <a:t>2</a:t>
            </a:r>
            <a:r>
              <a:rPr lang="en-US" sz="2400" b="1" baseline="30000" dirty="0">
                <a:solidFill>
                  <a:schemeClr val="bg1"/>
                </a:solidFill>
              </a:rPr>
              <a:t> -</a:t>
            </a:r>
            <a:r>
              <a:rPr lang="en-US" sz="2400" b="1" baseline="30000" dirty="0">
                <a:solidFill>
                  <a:schemeClr val="bg1"/>
                </a:solidFill>
                <a:sym typeface="Symbol"/>
              </a:rPr>
              <a:t>(</a:t>
            </a:r>
            <a:r>
              <a:rPr lang="en-US" sz="2400" b="1" baseline="30000" dirty="0">
                <a:solidFill>
                  <a:schemeClr val="bg1"/>
                </a:solidFill>
              </a:rPr>
              <a:t>1 /  log (d/log n))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Rectangle 21"/>
              <p:cNvSpPr/>
              <p:nvPr/>
            </p:nvSpPr>
            <p:spPr>
              <a:xfrm>
                <a:off x="7453448" y="4891280"/>
                <a:ext cx="4587755" cy="852501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defTabSz="914400">
                  <a:defRPr/>
                </a:pPr>
                <a:r>
                  <a:rPr lang="en-US" sz="2400" dirty="0"/>
                  <a:t>Classical </a:t>
                </a:r>
                <a:r>
                  <a:rPr lang="en-US" sz="2400" dirty="0" err="1"/>
                  <a:t>algs</a:t>
                </a:r>
                <a:r>
                  <a:rPr lang="en-US" sz="2400" dirty="0"/>
                  <a:t>: O(</a:t>
                </a:r>
                <a:r>
                  <a:rPr lang="en-US" sz="2400" b="1" dirty="0">
                    <a:solidFill>
                      <a:srgbClr val="FFFF00"/>
                    </a:solidFill>
                  </a:rPr>
                  <a:t>n</a:t>
                </a:r>
                <a:r>
                  <a:rPr lang="en-US" sz="2400" b="1" baseline="30000" dirty="0">
                    <a:solidFill>
                      <a:srgbClr val="FFFF00"/>
                    </a:solidFill>
                  </a:rPr>
                  <a:t>3</a:t>
                </a:r>
                <a:r>
                  <a:rPr lang="en-US" sz="2400" dirty="0"/>
                  <a:t>) time</a:t>
                </a:r>
              </a:p>
              <a:p>
                <a:pPr defTabSz="914400">
                  <a:defRPr/>
                </a:pPr>
                <a:r>
                  <a:rPr lang="en-US" sz="2400" dirty="0"/>
                  <a:t>[Williams’14]: </a:t>
                </a:r>
                <a:r>
                  <a:rPr lang="en-US" sz="2400" b="1" dirty="0">
                    <a:solidFill>
                      <a:srgbClr val="FFFF00"/>
                    </a:solidFill>
                  </a:rPr>
                  <a:t>n</a:t>
                </a:r>
                <a:r>
                  <a:rPr lang="en-US" sz="2400" b="1" baseline="30000" dirty="0">
                    <a:solidFill>
                      <a:srgbClr val="FFFF00"/>
                    </a:solidFill>
                  </a:rPr>
                  <a:t>3</a:t>
                </a:r>
                <a:r>
                  <a:rPr lang="en-US" sz="2400" b="1" baseline="30000" dirty="0"/>
                  <a:t> </a:t>
                </a:r>
                <a:r>
                  <a:rPr lang="en-US" sz="2400" dirty="0"/>
                  <a:t>/ exp(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rad>
                  </m:oMath>
                </a14:m>
                <a:r>
                  <a:rPr lang="en-US" sz="2400" dirty="0"/>
                  <a:t>) time</a:t>
                </a:r>
              </a:p>
            </p:txBody>
          </p:sp>
        </mc:Choice>
        <mc:Fallback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3448" y="4891280"/>
                <a:ext cx="4587755" cy="852501"/>
              </a:xfrm>
              <a:prstGeom prst="rect">
                <a:avLst/>
              </a:prstGeom>
              <a:blipFill>
                <a:blip r:embed="rId5"/>
                <a:stretch>
                  <a:fillRect l="-1987" t="-7692" r="-1457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2FAA305A-32FF-E2D3-B567-CB4BD25E823C}"/>
              </a:ext>
            </a:extLst>
          </p:cNvPr>
          <p:cNvGrpSpPr/>
          <p:nvPr/>
        </p:nvGrpSpPr>
        <p:grpSpPr>
          <a:xfrm>
            <a:off x="4983542" y="3288094"/>
            <a:ext cx="2469906" cy="774372"/>
            <a:chOff x="4983542" y="3288094"/>
            <a:chExt cx="2469906" cy="774372"/>
          </a:xfrm>
        </p:grpSpPr>
        <p:sp>
          <p:nvSpPr>
            <p:cNvPr id="24" name="Rounded Rectangle 23"/>
            <p:cNvSpPr/>
            <p:nvPr/>
          </p:nvSpPr>
          <p:spPr>
            <a:xfrm>
              <a:off x="4983542" y="3288094"/>
              <a:ext cx="2469906" cy="774372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004431" y="3304378"/>
              <a:ext cx="2306968" cy="70788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and more problems…</a:t>
              </a:r>
            </a:p>
          </p:txBody>
        </p:sp>
      </p:grpSp>
      <p:sp>
        <p:nvSpPr>
          <p:cNvPr id="15" name="Rectangle 14"/>
          <p:cNvSpPr/>
          <p:nvPr/>
        </p:nvSpPr>
        <p:spPr>
          <a:xfrm>
            <a:off x="6294681" y="620274"/>
            <a:ext cx="2356700" cy="89554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Hypothesis</a:t>
            </a:r>
            <a:r>
              <a:rPr lang="en-US" sz="2000" dirty="0"/>
              <a:t>: </a:t>
            </a:r>
            <a:r>
              <a:rPr lang="en-US" sz="2000" dirty="0" err="1"/>
              <a:t>Orthog</a:t>
            </a:r>
            <a:r>
              <a:rPr lang="en-US" sz="2000" dirty="0"/>
              <a:t>. </a:t>
            </a:r>
            <a:r>
              <a:rPr lang="en-US" sz="2000" dirty="0" err="1"/>
              <a:t>Vecs</a:t>
            </a:r>
            <a:r>
              <a:rPr lang="en-US" sz="2000" dirty="0"/>
              <a:t>. requires n</a:t>
            </a:r>
            <a:r>
              <a:rPr lang="en-US" sz="2000" baseline="30000" dirty="0"/>
              <a:t>2-o(1)</a:t>
            </a:r>
            <a:r>
              <a:rPr lang="en-US" sz="2000" dirty="0"/>
              <a:t> time.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95276" y="4579068"/>
            <a:ext cx="2356700" cy="63630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Hypothesis</a:t>
            </a:r>
            <a:r>
              <a:rPr lang="en-US" dirty="0"/>
              <a:t>: 3SUM requires n</a:t>
            </a:r>
            <a:r>
              <a:rPr lang="en-US" baseline="30000" dirty="0"/>
              <a:t>2-o(1)</a:t>
            </a:r>
            <a:r>
              <a:rPr lang="en-US" dirty="0"/>
              <a:t> time.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463213" y="2552616"/>
            <a:ext cx="2356700" cy="69915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Hypothesis</a:t>
            </a:r>
            <a:r>
              <a:rPr lang="en-US" dirty="0"/>
              <a:t>: APSP requires n</a:t>
            </a:r>
            <a:r>
              <a:rPr lang="en-US" baseline="30000" dirty="0"/>
              <a:t>3-o(1)</a:t>
            </a:r>
            <a:r>
              <a:rPr lang="en-US" dirty="0"/>
              <a:t>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33342" y="344285"/>
            <a:ext cx="2867835" cy="86726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[Williams’05]: SETH implies OV hypothesis!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15" grpId="0" animBg="1"/>
      <p:bldP spid="19" grpId="0" animBg="1"/>
      <p:bldP spid="26" grpId="0" animBg="1"/>
      <p:bldP spid="2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42F28-300A-7EF7-73A6-5A1E371D0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ED is SETH-hard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FA3477-9853-1AD5-51BC-E4DA419CCE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200" b="1" dirty="0"/>
                  <a:t>Theorem</a:t>
                </a:r>
                <a:r>
                  <a:rPr lang="en-US" sz="3200" dirty="0"/>
                  <a:t> [</a:t>
                </a:r>
                <a:r>
                  <a:rPr lang="en-US" sz="3200" dirty="0" err="1"/>
                  <a:t>Backurs</a:t>
                </a:r>
                <a:r>
                  <a:rPr lang="en-US" sz="3200" dirty="0"/>
                  <a:t>-Indyk 2015]:</a:t>
                </a:r>
              </a:p>
              <a:p>
                <a:r>
                  <a:rPr lang="en-US" sz="3200" dirty="0"/>
                  <a:t>Assuming SETH, Edit Distance does not have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2−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sup>
                    </m:sSup>
                  </m:oMath>
                </a14:m>
                <a:r>
                  <a:rPr lang="en-US" sz="3200" dirty="0"/>
                  <a:t>-time algorithms for any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3200" dirty="0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FA3477-9853-1AD5-51BC-E4DA419CCE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515" t="-3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C6D952FB-98F9-C49C-7C3A-3BDF07FF85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42077" y="4509578"/>
            <a:ext cx="4796988" cy="22365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16B19F-462E-DFA2-6E51-FAEDF8D8E3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3462" y="4240070"/>
            <a:ext cx="4940531" cy="30851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14962F5-D78E-7BC1-B946-83B1D31894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5104" y="4706322"/>
            <a:ext cx="3565035" cy="215167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92665F2-D1E5-DD2C-DB7D-D2E2AC421D01}"/>
              </a:ext>
            </a:extLst>
          </p:cNvPr>
          <p:cNvSpPr/>
          <p:nvPr/>
        </p:nvSpPr>
        <p:spPr>
          <a:xfrm>
            <a:off x="7201837" y="3250188"/>
            <a:ext cx="6096000" cy="110697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28600" lvl="0" indent="-228600" algn="ctr" defTabSz="914400"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sz="3200" dirty="0">
                <a:solidFill>
                  <a:srgbClr val="0070C0"/>
                </a:solidFill>
              </a:rPr>
              <a:t>ATCGGGTTCCTTAAGGG</a:t>
            </a:r>
          </a:p>
          <a:p>
            <a:pPr marL="228600" lvl="0" indent="-228600" algn="ctr" defTabSz="914400"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sz="3200" dirty="0">
                <a:solidFill>
                  <a:srgbClr val="0070C0"/>
                </a:solidFill>
              </a:rPr>
              <a:t>ATTGGTACCTTCAGG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C48931-A1BC-9BCB-083F-AE587E917D50}"/>
              </a:ext>
            </a:extLst>
          </p:cNvPr>
          <p:cNvSpPr txBox="1"/>
          <p:nvPr/>
        </p:nvSpPr>
        <p:spPr>
          <a:xfrm>
            <a:off x="468874" y="3572840"/>
            <a:ext cx="7631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(They actually reduce from Orthogonal Vectors (OV) to ED)</a:t>
            </a:r>
          </a:p>
        </p:txBody>
      </p:sp>
      <p:pic>
        <p:nvPicPr>
          <p:cNvPr id="12" name="Picture 11" descr="humangenome.jpg">
            <a:extLst>
              <a:ext uri="{FF2B5EF4-FFF2-40B4-BE49-F238E27FC236}">
                <a16:creationId xmlns:a16="http://schemas.microsoft.com/office/drawing/2014/main" id="{00365B2B-32EB-A64F-2B0A-58B78F569A68}"/>
              </a:ext>
            </a:extLst>
          </p:cNvPr>
          <p:cNvPicPr>
            <a:picLocks noChangeAspect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9343993" y="74506"/>
            <a:ext cx="27559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12" descr="dna.png">
            <a:extLst>
              <a:ext uri="{FF2B5EF4-FFF2-40B4-BE49-F238E27FC236}">
                <a16:creationId xmlns:a16="http://schemas.microsoft.com/office/drawing/2014/main" id="{1B3ECCAE-93D2-AF0E-821A-C13528A7361E}"/>
              </a:ext>
            </a:extLst>
          </p:cNvPr>
          <p:cNvPicPr>
            <a:picLocks noChangeAspect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 rot="4525954">
            <a:off x="-225262" y="-771095"/>
            <a:ext cx="1760538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460141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AB695-286E-050C-C369-2D0C43880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766B0-49DC-3557-DB27-90CE2FC91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2C7B7-7C07-30A3-4509-2DF2671204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607040" cy="4023360"/>
          </a:xfrm>
        </p:spPr>
        <p:txBody>
          <a:bodyPr>
            <a:normAutofit/>
          </a:bodyPr>
          <a:lstStyle/>
          <a:p>
            <a:r>
              <a:rPr lang="en-US" sz="3200" dirty="0"/>
              <a:t>Fine-Grained Complexity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3000" dirty="0"/>
              <a:t>Popular Hardness Hypotheses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3000" dirty="0"/>
              <a:t>Fine-Grained Reduction</a:t>
            </a:r>
          </a:p>
          <a:p>
            <a:pPr marL="0" indent="0">
              <a:buNone/>
            </a:pPr>
            <a:endParaRPr lang="en-US" sz="3200" dirty="0"/>
          </a:p>
          <a:p>
            <a:r>
              <a:rPr lang="en-US" sz="3200" dirty="0"/>
              <a:t>Some basic results in FGC (with proofs)</a:t>
            </a:r>
          </a:p>
          <a:p>
            <a:endParaRPr lang="en-US" sz="3200" dirty="0"/>
          </a:p>
          <a:p>
            <a:endParaRPr lang="en-US" sz="3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C5780A-0E62-4790-1E4B-D601ED55573F}"/>
              </a:ext>
            </a:extLst>
          </p:cNvPr>
          <p:cNvSpPr/>
          <p:nvPr/>
        </p:nvSpPr>
        <p:spPr>
          <a:xfrm>
            <a:off x="1097280" y="2841859"/>
            <a:ext cx="5496025" cy="58714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862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/>
          <p:cNvSpPr/>
          <p:nvPr/>
        </p:nvSpPr>
        <p:spPr>
          <a:xfrm>
            <a:off x="10044711" y="4603653"/>
            <a:ext cx="1787306" cy="558297"/>
          </a:xfrm>
          <a:custGeom>
            <a:avLst/>
            <a:gdLst>
              <a:gd name="connsiteX0" fmla="*/ 307817 w 1679417"/>
              <a:gd name="connsiteY0" fmla="*/ 9053 h 558297"/>
              <a:gd name="connsiteX1" fmla="*/ 45267 w 1679417"/>
              <a:gd name="connsiteY1" fmla="*/ 380245 h 558297"/>
              <a:gd name="connsiteX2" fmla="*/ 579421 w 1679417"/>
              <a:gd name="connsiteY2" fmla="*/ 534154 h 558297"/>
              <a:gd name="connsiteX3" fmla="*/ 1122629 w 1679417"/>
              <a:gd name="connsiteY3" fmla="*/ 525101 h 558297"/>
              <a:gd name="connsiteX4" fmla="*/ 1611516 w 1679417"/>
              <a:gd name="connsiteY4" fmla="*/ 416459 h 558297"/>
              <a:gd name="connsiteX5" fmla="*/ 1530035 w 1679417"/>
              <a:gd name="connsiteY5" fmla="*/ 0 h 558297"/>
              <a:gd name="connsiteX6" fmla="*/ 1530035 w 1679417"/>
              <a:gd name="connsiteY6" fmla="*/ 0 h 558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79417" h="558297">
                <a:moveTo>
                  <a:pt x="307817" y="9053"/>
                </a:moveTo>
                <a:cubicBezTo>
                  <a:pt x="153908" y="150890"/>
                  <a:pt x="0" y="292728"/>
                  <a:pt x="45267" y="380245"/>
                </a:cubicBezTo>
                <a:cubicBezTo>
                  <a:pt x="90534" y="467762"/>
                  <a:pt x="399861" y="510011"/>
                  <a:pt x="579421" y="534154"/>
                </a:cubicBezTo>
                <a:cubicBezTo>
                  <a:pt x="758981" y="558297"/>
                  <a:pt x="950613" y="544717"/>
                  <a:pt x="1122629" y="525101"/>
                </a:cubicBezTo>
                <a:cubicBezTo>
                  <a:pt x="1294645" y="505485"/>
                  <a:pt x="1543615" y="503976"/>
                  <a:pt x="1611516" y="416459"/>
                </a:cubicBezTo>
                <a:cubicBezTo>
                  <a:pt x="1679417" y="328942"/>
                  <a:pt x="1530035" y="0"/>
                  <a:pt x="1530035" y="0"/>
                </a:cubicBezTo>
                <a:lnTo>
                  <a:pt x="1530035" y="0"/>
                </a:lnTo>
              </a:path>
            </a:pathLst>
          </a:custGeom>
          <a:ln w="63500">
            <a:solidFill>
              <a:srgbClr val="0070C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468072" y="3791518"/>
            <a:ext cx="8724104" cy="2295319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915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756312" y="1753736"/>
                <a:ext cx="10339318" cy="2362200"/>
              </a:xfrm>
            </p:spPr>
            <p:txBody>
              <a:bodyPr>
                <a:normAutofit/>
              </a:bodyPr>
              <a:lstStyle/>
              <a:p>
                <a:r>
                  <a:rPr lang="en-US" sz="2400" b="1" dirty="0"/>
                  <a:t>Def. </a:t>
                </a:r>
                <a:r>
                  <a:rPr lang="en-US" sz="2400" dirty="0"/>
                  <a:t>Let A and B be problems,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US" sz="2400" dirty="0"/>
                  <a:t> and b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be time-constructible. </a:t>
                </a:r>
              </a:p>
              <a:p>
                <a:r>
                  <a:rPr lang="en-US" sz="2400" dirty="0"/>
                  <a:t>A is </a:t>
                </a:r>
                <a:r>
                  <a:rPr lang="en-US" sz="2400" dirty="0">
                    <a:solidFill>
                      <a:srgbClr val="C00000"/>
                    </a:solidFill>
                  </a:rPr>
                  <a:t>(</a:t>
                </a:r>
                <a:r>
                  <a:rPr lang="en-US" sz="2400" dirty="0" err="1">
                    <a:solidFill>
                      <a:srgbClr val="C00000"/>
                    </a:solidFill>
                  </a:rPr>
                  <a:t>a,b</a:t>
                </a:r>
                <a:r>
                  <a:rPr lang="en-US" sz="2400" dirty="0">
                    <a:solidFill>
                      <a:srgbClr val="C00000"/>
                    </a:solidFill>
                  </a:rPr>
                  <a:t>)-reducible </a:t>
                </a:r>
                <a:r>
                  <a:rPr lang="en-US" sz="2400" dirty="0"/>
                  <a:t>to B 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&gt;0 ∃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2400" dirty="0"/>
                  <a:t>, and an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4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e>
                          <m:sup>
                            <m:r>
                              <a:rPr lang="en-US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𝛿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400" dirty="0"/>
                  <a:t> time algorithm that can solve A on instances of size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making calls to an </a:t>
                </a:r>
                <a:r>
                  <a:rPr lang="en-US" sz="2400" dirty="0">
                    <a:solidFill>
                      <a:srgbClr val="0070C0"/>
                    </a:solidFill>
                  </a:rPr>
                  <a:t>oracle</a:t>
                </a:r>
                <a:r>
                  <a:rPr lang="en-US" sz="2400" dirty="0"/>
                  <a:t> for B with query lengths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400" dirty="0"/>
                  <a:t> so that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3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3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en-US" sz="3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3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  <m:sSup>
                          <m:sSupPr>
                            <m:ctrlPr>
                              <a:rPr lang="en-US" sz="3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36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36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6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sz="36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3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sz="3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𝜖</m:t>
                            </m:r>
                          </m:sup>
                        </m:sSup>
                        <m:r>
                          <a:rPr lang="en-US" sz="3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r>
                          <a:rPr lang="en-US" sz="3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sSup>
                          <m:sSupPr>
                            <m:ctrlPr>
                              <a:rPr lang="en-US" sz="3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36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36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e>
                          <m:sup>
                            <m:r>
                              <a:rPr lang="en-US" sz="3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sz="3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𝛿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sz="3200" dirty="0">
                    <a:solidFill>
                      <a:srgbClr val="C00000"/>
                    </a:solidFill>
                  </a:rPr>
                  <a:t>.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8915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56312" y="1753736"/>
                <a:ext cx="10339318" cy="2362200"/>
              </a:xfrm>
              <a:blipFill>
                <a:blip r:embed="rId3"/>
                <a:stretch>
                  <a:fillRect l="-884" t="-3618" r="-15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916" name="Title 2"/>
          <p:cNvSpPr>
            <a:spLocks noGrp="1"/>
          </p:cNvSpPr>
          <p:nvPr>
            <p:ph type="title"/>
          </p:nvPr>
        </p:nvSpPr>
        <p:spPr>
          <a:xfrm>
            <a:off x="208931" y="13020"/>
            <a:ext cx="8229600" cy="1554871"/>
          </a:xfrm>
        </p:spPr>
        <p:txBody>
          <a:bodyPr>
            <a:normAutofit/>
          </a:bodyPr>
          <a:lstStyle/>
          <a:p>
            <a:r>
              <a:rPr lang="en-US" b="1" dirty="0"/>
              <a:t>Fine-grained reductions </a:t>
            </a:r>
            <a:br>
              <a:rPr lang="en-US" b="1" dirty="0"/>
            </a:br>
            <a:r>
              <a:rPr lang="en-US" b="1" dirty="0"/>
              <a:t>(</a:t>
            </a:r>
            <a:r>
              <a:rPr lang="en-US" b="1" dirty="0" err="1"/>
              <a:t>Vassilevska</a:t>
            </a:r>
            <a:r>
              <a:rPr lang="en-US" b="1" dirty="0"/>
              <a:t> and Williams’10)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68072" y="4043153"/>
                <a:ext cx="8724104" cy="19570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600"/>
                  </a:spcBef>
                  <a:buClr>
                    <a:srgbClr val="F3A447"/>
                  </a:buClr>
                  <a:buSzPct val="85000"/>
                </a:pPr>
                <a:r>
                  <a:rPr lang="en-US" sz="2400" dirty="0">
                    <a:solidFill>
                      <a:srgbClr val="FFFFFF"/>
                    </a:solidFill>
                    <a:latin typeface="Century Gothic" pitchFamily="34" charset="0"/>
                  </a:rPr>
                  <a:t>Prop. 1: If A is (</a:t>
                </a:r>
                <a:r>
                  <a:rPr lang="en-US" sz="2400" dirty="0" err="1">
                    <a:solidFill>
                      <a:srgbClr val="FFFFFF"/>
                    </a:solidFill>
                    <a:latin typeface="Century Gothic" pitchFamily="34" charset="0"/>
                  </a:rPr>
                  <a:t>a,b</a:t>
                </a:r>
                <a:r>
                  <a:rPr lang="en-US" sz="2400" dirty="0">
                    <a:solidFill>
                      <a:srgbClr val="FFFFFF"/>
                    </a:solidFill>
                    <a:latin typeface="Century Gothic" pitchFamily="34" charset="0"/>
                  </a:rPr>
                  <a:t>)-reducible to B and B is</a:t>
                </a:r>
                <a:r>
                  <a:rPr lang="en-US" sz="2400" dirty="0">
                    <a:solidFill>
                      <a:schemeClr val="bg1"/>
                    </a:solidFill>
                    <a:latin typeface="Century Gothic" pitchFamily="34" charset="0"/>
                  </a:rPr>
                  <a:t> in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p>
                          <m:sSupPr>
                            <m:ctrlPr>
                              <a:rPr lang="en-US" sz="2400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400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e>
                          <m:sup>
                            <m:r>
                              <a:rPr lang="en-US" sz="2400" b="0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sz="24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𝜖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400" dirty="0"/>
                  <a:t> </a:t>
                </a:r>
                <a:r>
                  <a:rPr lang="en-US" sz="2400" dirty="0">
                    <a:solidFill>
                      <a:srgbClr val="FFFFFF"/>
                    </a:solidFill>
                    <a:latin typeface="Century Gothic" pitchFamily="34" charset="0"/>
                  </a:rPr>
                  <a:t>time, then A is in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sSupPr>
                            <m:ctrlPr>
                              <a:rPr lang="en-US" sz="2400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400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e>
                          <m:sup>
                            <m:r>
                              <a:rPr lang="en-US" sz="2400" b="0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sz="2400" b="0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𝛿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400" dirty="0">
                    <a:solidFill>
                      <a:srgbClr val="FFFF00"/>
                    </a:solidFill>
                  </a:rPr>
                  <a:t> </a:t>
                </a:r>
                <a:r>
                  <a:rPr lang="en-US" sz="2400" dirty="0">
                    <a:latin typeface="Century Gothic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Century Gothic" pitchFamily="34" charset="0"/>
                  </a:rPr>
                  <a:t>time</a:t>
                </a:r>
                <a:r>
                  <a:rPr lang="en-US" sz="2400" dirty="0">
                    <a:solidFill>
                      <a:srgbClr val="FFFFFF"/>
                    </a:solidFill>
                    <a:latin typeface="Century Gothic" pitchFamily="34" charset="0"/>
                  </a:rPr>
                  <a:t>.</a:t>
                </a:r>
              </a:p>
              <a:p>
                <a:pPr>
                  <a:spcBef>
                    <a:spcPts val="600"/>
                  </a:spcBef>
                  <a:buClr>
                    <a:srgbClr val="F3A447"/>
                  </a:buClr>
                  <a:buSzPct val="85000"/>
                </a:pPr>
                <a:endParaRPr lang="en-US" sz="900" dirty="0">
                  <a:solidFill>
                    <a:srgbClr val="FFFFFF"/>
                  </a:solidFill>
                  <a:latin typeface="Century Gothic" pitchFamily="34" charset="0"/>
                </a:endParaRPr>
              </a:p>
              <a:p>
                <a:pPr>
                  <a:spcBef>
                    <a:spcPts val="600"/>
                  </a:spcBef>
                  <a:buClr>
                    <a:srgbClr val="F3A447"/>
                  </a:buClr>
                  <a:buSzPct val="85000"/>
                </a:pPr>
                <a:r>
                  <a:rPr lang="en-US" sz="2400" dirty="0">
                    <a:solidFill>
                      <a:srgbClr val="FFFFFF"/>
                    </a:solidFill>
                    <a:latin typeface="Century Gothic" pitchFamily="34" charset="0"/>
                  </a:rPr>
                  <a:t>Prop. 2: If A is </a:t>
                </a:r>
                <a:r>
                  <a:rPr lang="en-US" sz="2400" dirty="0">
                    <a:solidFill>
                      <a:srgbClr val="FFFF00"/>
                    </a:solidFill>
                    <a:latin typeface="Century Gothic" pitchFamily="34" charset="0"/>
                  </a:rPr>
                  <a:t>(</a:t>
                </a:r>
                <a:r>
                  <a:rPr lang="en-US" sz="2400" dirty="0" err="1">
                    <a:solidFill>
                      <a:srgbClr val="FFFF00"/>
                    </a:solidFill>
                    <a:latin typeface="Century Gothic" pitchFamily="34" charset="0"/>
                  </a:rPr>
                  <a:t>a,b</a:t>
                </a:r>
                <a:r>
                  <a:rPr lang="en-US" sz="2400" dirty="0">
                    <a:solidFill>
                      <a:srgbClr val="FFFF00"/>
                    </a:solidFill>
                    <a:latin typeface="Century Gothic" pitchFamily="34" charset="0"/>
                  </a:rPr>
                  <a:t>)</a:t>
                </a:r>
                <a:r>
                  <a:rPr lang="en-US" sz="2400" dirty="0">
                    <a:solidFill>
                      <a:srgbClr val="FFFFFF"/>
                    </a:solidFill>
                    <a:latin typeface="Century Gothic" pitchFamily="34" charset="0"/>
                  </a:rPr>
                  <a:t>-reducible to B and B is </a:t>
                </a:r>
                <a:r>
                  <a:rPr lang="en-US" sz="2400" dirty="0">
                    <a:solidFill>
                      <a:srgbClr val="FFFF00"/>
                    </a:solidFill>
                    <a:latin typeface="Century Gothic" pitchFamily="34" charset="0"/>
                  </a:rPr>
                  <a:t>(</a:t>
                </a:r>
                <a:r>
                  <a:rPr lang="en-US" sz="2400" dirty="0" err="1">
                    <a:solidFill>
                      <a:srgbClr val="FFFF00"/>
                    </a:solidFill>
                    <a:latin typeface="Century Gothic" pitchFamily="34" charset="0"/>
                  </a:rPr>
                  <a:t>b,c</a:t>
                </a:r>
                <a:r>
                  <a:rPr lang="en-US" sz="2400" dirty="0">
                    <a:solidFill>
                      <a:srgbClr val="FFFF00"/>
                    </a:solidFill>
                    <a:latin typeface="Century Gothic" pitchFamily="34" charset="0"/>
                  </a:rPr>
                  <a:t>)</a:t>
                </a:r>
                <a:r>
                  <a:rPr lang="en-US" sz="2400" dirty="0">
                    <a:solidFill>
                      <a:srgbClr val="FFFFFF"/>
                    </a:solidFill>
                    <a:latin typeface="Century Gothic" pitchFamily="34" charset="0"/>
                  </a:rPr>
                  <a:t>-reducible to C, then A is </a:t>
                </a:r>
                <a:r>
                  <a:rPr lang="en-US" sz="2400" dirty="0">
                    <a:solidFill>
                      <a:srgbClr val="FFFF00"/>
                    </a:solidFill>
                    <a:latin typeface="Century Gothic" pitchFamily="34" charset="0"/>
                  </a:rPr>
                  <a:t>(</a:t>
                </a:r>
                <a:r>
                  <a:rPr lang="en-US" sz="2400" dirty="0" err="1">
                    <a:solidFill>
                      <a:srgbClr val="FFFF00"/>
                    </a:solidFill>
                    <a:latin typeface="Century Gothic" pitchFamily="34" charset="0"/>
                  </a:rPr>
                  <a:t>a,c</a:t>
                </a:r>
                <a:r>
                  <a:rPr lang="en-US" sz="2400" dirty="0">
                    <a:solidFill>
                      <a:srgbClr val="FFFF00"/>
                    </a:solidFill>
                    <a:latin typeface="Century Gothic" pitchFamily="34" charset="0"/>
                  </a:rPr>
                  <a:t>)</a:t>
                </a:r>
                <a:r>
                  <a:rPr lang="en-US" sz="2400" dirty="0">
                    <a:solidFill>
                      <a:srgbClr val="FFFFFF"/>
                    </a:solidFill>
                    <a:latin typeface="Century Gothic" pitchFamily="34" charset="0"/>
                  </a:rPr>
                  <a:t>-reducible to C.</a:t>
                </a:r>
                <a:endParaRPr lang="en-US" sz="2400" dirty="0">
                  <a:solidFill>
                    <a:srgbClr val="FCF059"/>
                  </a:solidFill>
                  <a:latin typeface="Century Gothic" pitchFamily="34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072" y="4043153"/>
                <a:ext cx="8724104" cy="1957074"/>
              </a:xfrm>
              <a:prstGeom prst="rect">
                <a:avLst/>
              </a:prstGeom>
              <a:blipFill>
                <a:blip r:embed="rId4"/>
                <a:stretch>
                  <a:fillRect l="-1118" t="-1558" r="-489" b="-6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val 6"/>
          <p:cNvSpPr/>
          <p:nvPr/>
        </p:nvSpPr>
        <p:spPr>
          <a:xfrm>
            <a:off x="10469470" y="3377659"/>
            <a:ext cx="914400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b="1" dirty="0"/>
              <a:t>A</a:t>
            </a:r>
          </a:p>
        </p:txBody>
      </p:sp>
      <p:sp>
        <p:nvSpPr>
          <p:cNvPr id="8" name="Down Arrow 7"/>
          <p:cNvSpPr/>
          <p:nvPr/>
        </p:nvSpPr>
        <p:spPr>
          <a:xfrm>
            <a:off x="9936070" y="4063459"/>
            <a:ext cx="2057400" cy="838200"/>
          </a:xfrm>
          <a:prstGeom prst="downArrow">
            <a:avLst>
              <a:gd name="adj1" fmla="val 50000"/>
              <a:gd name="adj2" fmla="val 51080"/>
            </a:avLst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2000">
                <a:solidFill>
                  <a:schemeClr val="bg1"/>
                </a:solidFill>
              </a:rPr>
              <a:t>a(n)</a:t>
            </a:r>
            <a:r>
              <a:rPr lang="en-US" sz="2000" baseline="30000">
                <a:solidFill>
                  <a:schemeClr val="bg1"/>
                </a:solidFill>
              </a:rPr>
              <a:t>1-</a:t>
            </a:r>
            <a:r>
              <a:rPr lang="el-GR" sz="2000" baseline="3000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δ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9868923" y="4963525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B</a:t>
            </a:r>
          </a:p>
        </p:txBody>
      </p:sp>
      <p:sp>
        <p:nvSpPr>
          <p:cNvPr id="11" name="Oval 10"/>
          <p:cNvSpPr/>
          <p:nvPr/>
        </p:nvSpPr>
        <p:spPr>
          <a:xfrm>
            <a:off x="10469470" y="5130259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B</a:t>
            </a:r>
          </a:p>
        </p:txBody>
      </p:sp>
      <p:sp>
        <p:nvSpPr>
          <p:cNvPr id="12" name="Oval 11"/>
          <p:cNvSpPr/>
          <p:nvPr/>
        </p:nvSpPr>
        <p:spPr>
          <a:xfrm>
            <a:off x="11002870" y="5054059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B</a:t>
            </a:r>
          </a:p>
        </p:txBody>
      </p:sp>
      <p:sp>
        <p:nvSpPr>
          <p:cNvPr id="13" name="Oval 12"/>
          <p:cNvSpPr/>
          <p:nvPr/>
        </p:nvSpPr>
        <p:spPr>
          <a:xfrm>
            <a:off x="11536270" y="4977859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B</a:t>
            </a:r>
          </a:p>
        </p:txBody>
      </p:sp>
      <p:sp>
        <p:nvSpPr>
          <p:cNvPr id="38926" name="TextBox 9"/>
          <p:cNvSpPr txBox="1">
            <a:spLocks noChangeArrowheads="1"/>
          </p:cNvSpPr>
          <p:nvPr/>
        </p:nvSpPr>
        <p:spPr bwMode="auto">
          <a:xfrm>
            <a:off x="8283966" y="-11774"/>
            <a:ext cx="3898583" cy="1477328"/>
          </a:xfrm>
          <a:prstGeom prst="rect">
            <a:avLst/>
          </a:prstGeom>
          <a:solidFill>
            <a:srgbClr val="C00000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b="1" i="1" dirty="0">
                <a:solidFill>
                  <a:srgbClr val="FFFF00"/>
                </a:solidFill>
                <a:latin typeface="Century Gothic" pitchFamily="34" charset="0"/>
              </a:rPr>
              <a:t>Intuition</a:t>
            </a:r>
            <a:r>
              <a:rPr lang="en-US" dirty="0">
                <a:solidFill>
                  <a:srgbClr val="FFFF00"/>
                </a:solidFill>
                <a:latin typeface="Century Gothic" pitchFamily="34" charset="0"/>
              </a:rPr>
              <a:t>: a(n),b(n) are the naive runtimes for A and B. A reducible to B implies that beating the naive runtime for B implies also beating the naive runtime for 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20492" y="5360300"/>
            <a:ext cx="265657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n</a:t>
            </a:r>
            <a:r>
              <a:rPr lang="en-US" sz="3200" baseline="-25000" dirty="0"/>
              <a:t>1</a:t>
            </a:r>
            <a:r>
              <a:rPr lang="en-US" sz="3200" dirty="0"/>
              <a:t>, n</a:t>
            </a:r>
            <a:r>
              <a:rPr lang="en-US" sz="3200" baseline="-25000" dirty="0"/>
              <a:t>2</a:t>
            </a:r>
            <a:r>
              <a:rPr lang="en-US" sz="3200" dirty="0"/>
              <a:t>, …, </a:t>
            </a:r>
            <a:r>
              <a:rPr lang="en-US" sz="3200" dirty="0" err="1"/>
              <a:t>n</a:t>
            </a:r>
            <a:r>
              <a:rPr lang="en-US" sz="3200" baseline="-25000" dirty="0" err="1"/>
              <a:t>k</a:t>
            </a:r>
            <a:r>
              <a:rPr lang="en-US" sz="3200" dirty="0"/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34165" y="2853086"/>
            <a:ext cx="4347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38915" grpId="0" build="p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6" grpId="0"/>
      <p:bldP spid="1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ight Arrow 28"/>
          <p:cNvSpPr/>
          <p:nvPr/>
        </p:nvSpPr>
        <p:spPr>
          <a:xfrm rot="19787648">
            <a:off x="6065838" y="2062163"/>
            <a:ext cx="3921125" cy="512762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8" name="Right Arrow 27"/>
          <p:cNvSpPr/>
          <p:nvPr/>
        </p:nvSpPr>
        <p:spPr>
          <a:xfrm rot="19369364">
            <a:off x="5057775" y="3001963"/>
            <a:ext cx="5319713" cy="504825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7" name="Right Arrow 26"/>
          <p:cNvSpPr/>
          <p:nvPr/>
        </p:nvSpPr>
        <p:spPr>
          <a:xfrm rot="18784195">
            <a:off x="6835775" y="3078163"/>
            <a:ext cx="3840163" cy="484187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0965" name="Title 1"/>
          <p:cNvSpPr>
            <a:spLocks noGrp="1"/>
          </p:cNvSpPr>
          <p:nvPr>
            <p:ph type="title"/>
          </p:nvPr>
        </p:nvSpPr>
        <p:spPr>
          <a:xfrm>
            <a:off x="2841624" y="89527"/>
            <a:ext cx="8912225" cy="647392"/>
          </a:xfrm>
        </p:spPr>
        <p:txBody>
          <a:bodyPr>
            <a:normAutofit fontScale="90000"/>
          </a:bodyPr>
          <a:lstStyle/>
          <a:p>
            <a:r>
              <a:rPr lang="en-US" dirty="0"/>
              <a:t>Fine-Grained structure within P</a:t>
            </a:r>
          </a:p>
        </p:txBody>
      </p:sp>
      <p:sp>
        <p:nvSpPr>
          <p:cNvPr id="40966" name="Content Placeholder 2"/>
          <p:cNvSpPr>
            <a:spLocks noGrp="1"/>
          </p:cNvSpPr>
          <p:nvPr>
            <p:ph sz="quarter" idx="1"/>
          </p:nvPr>
        </p:nvSpPr>
        <p:spPr>
          <a:xfrm>
            <a:off x="2589213" y="2133600"/>
            <a:ext cx="8915400" cy="377825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5280221" y="3032011"/>
            <a:ext cx="1524000" cy="738711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/>
              <a:t>Orthog</a:t>
            </a:r>
            <a:r>
              <a:rPr lang="en-US" dirty="0"/>
              <a:t>. vectors</a:t>
            </a:r>
          </a:p>
        </p:txBody>
      </p:sp>
      <p:sp>
        <p:nvSpPr>
          <p:cNvPr id="5" name="Oval 4"/>
          <p:cNvSpPr/>
          <p:nvPr/>
        </p:nvSpPr>
        <p:spPr>
          <a:xfrm>
            <a:off x="4460875" y="4545013"/>
            <a:ext cx="1169988" cy="914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bg1"/>
                </a:solidFill>
              </a:rPr>
              <a:t>3SUM</a:t>
            </a:r>
          </a:p>
        </p:txBody>
      </p:sp>
      <p:sp>
        <p:nvSpPr>
          <p:cNvPr id="6" name="Oval 5"/>
          <p:cNvSpPr/>
          <p:nvPr/>
        </p:nvSpPr>
        <p:spPr>
          <a:xfrm>
            <a:off x="6477000" y="4572000"/>
            <a:ext cx="1108075" cy="91440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schemeClr val="tx1"/>
                </a:solidFill>
              </a:rPr>
              <a:t>APSP</a:t>
            </a:r>
          </a:p>
        </p:txBody>
      </p:sp>
      <p:sp>
        <p:nvSpPr>
          <p:cNvPr id="7" name="Rectangle 6"/>
          <p:cNvSpPr/>
          <p:nvPr/>
        </p:nvSpPr>
        <p:spPr>
          <a:xfrm>
            <a:off x="2397944" y="742412"/>
            <a:ext cx="5796731" cy="199920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bg1"/>
                </a:solidFill>
              </a:rPr>
              <a:t>Graph diameter [RV’13,BRSVW’18], eccentricities [AVW’16] , local alignment, longest common substring* [AVW’14], </a:t>
            </a:r>
            <a:r>
              <a:rPr lang="en-US" dirty="0" err="1">
                <a:solidFill>
                  <a:schemeClr val="bg1"/>
                </a:solidFill>
              </a:rPr>
              <a:t>Frechet</a:t>
            </a:r>
            <a:r>
              <a:rPr lang="en-US" dirty="0">
                <a:solidFill>
                  <a:schemeClr val="bg1"/>
                </a:solidFill>
              </a:rPr>
              <a:t> distance [Br’14], Edit distance [BI’15], LCS, </a:t>
            </a:r>
            <a:r>
              <a:rPr lang="en-US" dirty="0" err="1">
                <a:solidFill>
                  <a:schemeClr val="bg1"/>
                </a:solidFill>
              </a:rPr>
              <a:t>Dyn</a:t>
            </a:r>
            <a:r>
              <a:rPr lang="en-US" dirty="0">
                <a:solidFill>
                  <a:schemeClr val="bg1"/>
                </a:solidFill>
              </a:rPr>
              <a:t>. time warping [ABV’15, BrK’15], subtree isomorphism [ABHVZ’15], </a:t>
            </a:r>
            <a:r>
              <a:rPr lang="en-US" dirty="0" err="1">
                <a:solidFill>
                  <a:schemeClr val="bg1"/>
                </a:solidFill>
              </a:rPr>
              <a:t>Betweenness</a:t>
            </a:r>
            <a:r>
              <a:rPr lang="en-US" dirty="0">
                <a:solidFill>
                  <a:schemeClr val="bg1"/>
                </a:solidFill>
              </a:rPr>
              <a:t> [AGV’15], Hamming Closest Pair [AW15], Reg. Expr. Matching [BI16,BGL17], Kernel and Neural Network Empirical Risk Minimization [BIS’17]…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8030" y="3186882"/>
            <a:ext cx="949325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/>
              <a:t>N</a:t>
            </a:r>
            <a:r>
              <a:rPr lang="en-US" sz="2400" baseline="30000" dirty="0"/>
              <a:t>2-</a:t>
            </a:r>
            <a:r>
              <a:rPr lang="en-US" sz="2400" baseline="30000" dirty="0">
                <a:sym typeface="Symbol"/>
              </a:rPr>
              <a:t> </a:t>
            </a:r>
            <a:endParaRPr lang="en-US" sz="2400" baseline="30000" dirty="0"/>
          </a:p>
        </p:txBody>
      </p:sp>
      <p:sp>
        <p:nvSpPr>
          <p:cNvPr id="10" name="Down Arrow 9"/>
          <p:cNvSpPr/>
          <p:nvPr/>
        </p:nvSpPr>
        <p:spPr>
          <a:xfrm rot="10800000">
            <a:off x="5833653" y="2682074"/>
            <a:ext cx="377825" cy="433387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9426802" y="3477836"/>
            <a:ext cx="2620653" cy="27432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chemeClr val="tx1"/>
                </a:solidFill>
              </a:rPr>
              <a:t>In </a:t>
            </a:r>
            <a:r>
              <a:rPr lang="en-US" sz="2000" b="1" i="1" dirty="0">
                <a:solidFill>
                  <a:schemeClr val="tx1"/>
                </a:solidFill>
              </a:rPr>
              <a:t>dense graphs</a:t>
            </a:r>
            <a:r>
              <a:rPr lang="en-US" sz="2000" b="1" dirty="0">
                <a:solidFill>
                  <a:schemeClr val="tx1"/>
                </a:solidFill>
              </a:rPr>
              <a:t>: radius, median, </a:t>
            </a:r>
            <a:r>
              <a:rPr lang="en-US" sz="2000" b="1" dirty="0" err="1">
                <a:solidFill>
                  <a:schemeClr val="tx1"/>
                </a:solidFill>
              </a:rPr>
              <a:t>betweenness</a:t>
            </a:r>
            <a:r>
              <a:rPr lang="en-US" sz="2000" b="1" dirty="0">
                <a:solidFill>
                  <a:schemeClr val="tx1"/>
                </a:solidFill>
              </a:rPr>
              <a:t> centrality [AGV’15], </a:t>
            </a:r>
            <a:r>
              <a:rPr lang="en-US" sz="2000" b="1" i="1" dirty="0">
                <a:solidFill>
                  <a:schemeClr val="bg1"/>
                </a:solidFill>
              </a:rPr>
              <a:t>negative triangle</a:t>
            </a:r>
            <a:r>
              <a:rPr lang="en-US" sz="2000" b="1" dirty="0">
                <a:solidFill>
                  <a:schemeClr val="tx1"/>
                </a:solidFill>
              </a:rPr>
              <a:t>, second shortest path, replacement paths, shortest cycle  [VW’10], 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23075" y="5486400"/>
            <a:ext cx="949325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/>
              <a:t>n</a:t>
            </a:r>
            <a:r>
              <a:rPr lang="en-US" sz="2400" baseline="30000" dirty="0"/>
              <a:t>3-</a:t>
            </a:r>
            <a:r>
              <a:rPr lang="en-US" sz="2400" baseline="30000" dirty="0">
                <a:sym typeface="Symbol"/>
              </a:rPr>
              <a:t> </a:t>
            </a:r>
            <a:endParaRPr lang="en-US" sz="2400" baseline="30000" dirty="0"/>
          </a:p>
        </p:txBody>
      </p:sp>
      <p:sp>
        <p:nvSpPr>
          <p:cNvPr id="15" name="Rounded Rectangle 14"/>
          <p:cNvSpPr/>
          <p:nvPr/>
        </p:nvSpPr>
        <p:spPr>
          <a:xfrm>
            <a:off x="10746556" y="3068556"/>
            <a:ext cx="949325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/>
              <a:t>n</a:t>
            </a:r>
            <a:r>
              <a:rPr lang="en-US" sz="2400" baseline="30000" dirty="0"/>
              <a:t>3-</a:t>
            </a:r>
            <a:r>
              <a:rPr lang="en-US" sz="2400" baseline="30000" dirty="0">
                <a:sym typeface="Symbol"/>
              </a:rPr>
              <a:t> </a:t>
            </a:r>
            <a:endParaRPr lang="en-US" sz="2400" baseline="30000" dirty="0"/>
          </a:p>
        </p:txBody>
      </p:sp>
      <p:sp>
        <p:nvSpPr>
          <p:cNvPr id="17" name="Rectangle 16"/>
          <p:cNvSpPr/>
          <p:nvPr/>
        </p:nvSpPr>
        <p:spPr>
          <a:xfrm>
            <a:off x="144546" y="3603094"/>
            <a:ext cx="3871830" cy="275799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bg1"/>
                </a:solidFill>
              </a:rPr>
              <a:t>Huge literature in comp. geom. [GO’95, </a:t>
            </a:r>
            <a:r>
              <a:rPr lang="en-US" dirty="0">
                <a:solidFill>
                  <a:schemeClr val="bg1"/>
                </a:solidFill>
                <a:ea typeface="American Typewriter"/>
                <a:cs typeface="American Typewriter"/>
                <a:sym typeface="American Typewriter"/>
              </a:rPr>
              <a:t>BHP98, …</a:t>
            </a:r>
            <a:r>
              <a:rPr lang="en-US" dirty="0">
                <a:solidFill>
                  <a:schemeClr val="bg1"/>
                </a:solidFill>
              </a:rPr>
              <a:t>]: </a:t>
            </a:r>
            <a:r>
              <a:rPr lang="en-US" dirty="0" err="1">
                <a:solidFill>
                  <a:schemeClr val="bg1"/>
                </a:solidFill>
              </a:rPr>
              <a:t>Geombase</a:t>
            </a:r>
            <a:r>
              <a:rPr lang="en-US" dirty="0">
                <a:solidFill>
                  <a:schemeClr val="bg1"/>
                </a:solidFill>
              </a:rPr>
              <a:t>, 3PointsLine, 3LinesPoint, Polygonal Containment, Planar Motion Planning, 3D Motion Planning …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bg1"/>
              </a:solidFill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bg1"/>
                </a:solidFill>
              </a:rPr>
              <a:t>String problems: Sequence local alignment [AVW’14], jumbled indexing [ACLL’14], 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11675" y="5467350"/>
            <a:ext cx="949325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/>
              <a:t>N</a:t>
            </a:r>
            <a:r>
              <a:rPr lang="en-US" sz="2400" baseline="30000" dirty="0"/>
              <a:t>2-</a:t>
            </a:r>
            <a:r>
              <a:rPr lang="en-US" sz="2400" baseline="30000" dirty="0">
                <a:sym typeface="Symbol"/>
              </a:rPr>
              <a:t> </a:t>
            </a:r>
            <a:endParaRPr lang="en-US" sz="2400" baseline="30000" dirty="0"/>
          </a:p>
        </p:txBody>
      </p:sp>
      <p:sp>
        <p:nvSpPr>
          <p:cNvPr id="19" name="Rounded Rectangle 18"/>
          <p:cNvSpPr/>
          <p:nvPr/>
        </p:nvSpPr>
        <p:spPr>
          <a:xfrm>
            <a:off x="1713294" y="3190853"/>
            <a:ext cx="949325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/>
              <a:t>N</a:t>
            </a:r>
            <a:r>
              <a:rPr lang="en-US" sz="2400" baseline="30000" dirty="0"/>
              <a:t>2-</a:t>
            </a:r>
            <a:r>
              <a:rPr lang="en-US" sz="2400" baseline="30000" dirty="0">
                <a:sym typeface="Symbol"/>
              </a:rPr>
              <a:t> ’</a:t>
            </a:r>
            <a:endParaRPr lang="en-US" sz="2400" baseline="30000" dirty="0"/>
          </a:p>
        </p:txBody>
      </p:sp>
      <p:sp>
        <p:nvSpPr>
          <p:cNvPr id="20" name="Right Arrow 19"/>
          <p:cNvSpPr/>
          <p:nvPr/>
        </p:nvSpPr>
        <p:spPr>
          <a:xfrm flipH="1">
            <a:off x="4005263" y="4876800"/>
            <a:ext cx="454025" cy="339725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Left-Right Arrow 24"/>
              <p:cNvSpPr/>
              <p:nvPr/>
            </p:nvSpPr>
            <p:spPr>
              <a:xfrm>
                <a:off x="7564436" y="4462467"/>
                <a:ext cx="1883005" cy="1201142"/>
              </a:xfrm>
              <a:prstGeom prst="leftRightArrow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p>
                              <m:r>
                                <a:rPr lang="en-US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p>
                          </m:sSup>
                          <m:r>
                            <a:rPr lang="en-US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p>
                              <m:r>
                                <a:rPr lang="en-US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b="1" dirty="0">
                  <a:solidFill>
                    <a:srgbClr val="FFFF00"/>
                  </a:solidFill>
                </a:endParaRPr>
              </a:p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b="1" dirty="0">
                    <a:solidFill>
                      <a:srgbClr val="FFFF00"/>
                    </a:solidFill>
                  </a:rPr>
                  <a:t>equivalent</a:t>
                </a:r>
              </a:p>
            </p:txBody>
          </p:sp>
        </mc:Choice>
        <mc:Fallback xmlns="">
          <p:sp>
            <p:nvSpPr>
              <p:cNvPr id="25" name="Left-Right Arrow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4436" y="4462467"/>
                <a:ext cx="1883005" cy="1201142"/>
              </a:xfrm>
              <a:prstGeom prst="leftRightArrow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Oval 25"/>
          <p:cNvSpPr/>
          <p:nvPr/>
        </p:nvSpPr>
        <p:spPr>
          <a:xfrm>
            <a:off x="9674225" y="357188"/>
            <a:ext cx="2517775" cy="18192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100" dirty="0"/>
              <a:t>Many dynamic problems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[P’10],[AV’14], [HKNS‘15], [D16], [RZ’04], [AD’16],…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19391" y="1432174"/>
            <a:ext cx="949325" cy="39846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/>
              <a:t>N</a:t>
            </a:r>
            <a:r>
              <a:rPr lang="en-US" sz="2400" baseline="30000" dirty="0"/>
              <a:t>2-</a:t>
            </a:r>
            <a:r>
              <a:rPr lang="en-US" sz="2400" baseline="30000" dirty="0">
                <a:sym typeface="Symbol"/>
              </a:rPr>
              <a:t> </a:t>
            </a:r>
            <a:r>
              <a:rPr lang="en-US" sz="2400" baseline="30000" dirty="0"/>
              <a:t>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30"/>
              <p:cNvSpPr/>
              <p:nvPr/>
            </p:nvSpPr>
            <p:spPr>
              <a:xfrm>
                <a:off x="5149179" y="4012824"/>
                <a:ext cx="2081901" cy="452437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-SAT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1" name="Oval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9179" y="4012824"/>
                <a:ext cx="2081901" cy="452437"/>
              </a:xfrm>
              <a:prstGeom prst="ellipse">
                <a:avLst/>
              </a:prstGeom>
              <a:blipFill>
                <a:blip r:embed="rId4"/>
                <a:stretch>
                  <a:fillRect t="-9091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ounded Rectangle 31"/>
          <p:cNvSpPr/>
          <p:nvPr/>
        </p:nvSpPr>
        <p:spPr>
          <a:xfrm>
            <a:off x="4544646" y="3777496"/>
            <a:ext cx="1090613" cy="400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/>
              <a:t>2</a:t>
            </a:r>
            <a:r>
              <a:rPr lang="en-US" sz="2400" baseline="30000" dirty="0"/>
              <a:t>(1 - </a:t>
            </a:r>
            <a:r>
              <a:rPr lang="en-US" sz="2400" baseline="30000" dirty="0">
                <a:sym typeface="Symbol"/>
              </a:rPr>
              <a:t></a:t>
            </a:r>
            <a:r>
              <a:rPr lang="en-US" sz="2400" baseline="30000" dirty="0"/>
              <a:t>)n</a:t>
            </a:r>
          </a:p>
        </p:txBody>
      </p:sp>
      <p:sp>
        <p:nvSpPr>
          <p:cNvPr id="33" name="Right Arrow 32"/>
          <p:cNvSpPr/>
          <p:nvPr/>
        </p:nvSpPr>
        <p:spPr>
          <a:xfrm rot="16016877">
            <a:off x="5867562" y="3739195"/>
            <a:ext cx="309641" cy="241300"/>
          </a:xfrm>
          <a:prstGeom prst="rightArrow">
            <a:avLst>
              <a:gd name="adj1" fmla="val 45008"/>
              <a:gd name="adj2" fmla="val 5000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-1" y="0"/>
            <a:ext cx="2422689" cy="151116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Using other hardness assumptions, one can unravel even more structure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3698239"/>
            <a:ext cx="934720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[W’04]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2C0E09C-0FD9-4AF5-AF8B-AD3350F3083F}"/>
              </a:ext>
            </a:extLst>
          </p:cNvPr>
          <p:cNvSpPr/>
          <p:nvPr/>
        </p:nvSpPr>
        <p:spPr>
          <a:xfrm>
            <a:off x="4353378" y="4184320"/>
            <a:ext cx="1231444" cy="27599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SETH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28" grpId="0" animBg="1"/>
      <p:bldP spid="27" grpId="0" animBg="1"/>
      <p:bldP spid="7" grpId="0" animBg="1"/>
      <p:bldP spid="10" grpId="0" animBg="1"/>
      <p:bldP spid="11" grpId="0" animBg="1"/>
      <p:bldP spid="15" grpId="0" animBg="1"/>
      <p:bldP spid="17" grpId="0" animBg="1"/>
      <p:bldP spid="19" grpId="0" animBg="1"/>
      <p:bldP spid="20" grpId="0" animBg="1"/>
      <p:bldP spid="25" grpId="0" animBg="1"/>
      <p:bldP spid="26" grpId="0" animBg="1"/>
      <p:bldP spid="30" grpId="0" animBg="1"/>
      <p:bldP spid="3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Fine-Grained Complexity</a:t>
            </a:r>
          </a:p>
          <a:p>
            <a:pPr marL="0" indent="0">
              <a:buNone/>
            </a:pPr>
            <a:endParaRPr lang="en-US" sz="3200" dirty="0"/>
          </a:p>
          <a:p>
            <a:r>
              <a:rPr lang="en-US" sz="3200" dirty="0"/>
              <a:t>Some basic results (with proofs)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3000" dirty="0"/>
              <a:t>SETH -&gt; Orthogonal Vectors (OV)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3000" dirty="0"/>
              <a:t>OV -&gt; Diameter in sparse graphs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3000" dirty="0"/>
              <a:t>(optional) All-pairs Shortest Paths (APSP) -&gt; Negative Triangle</a:t>
            </a:r>
          </a:p>
          <a:p>
            <a:endParaRPr lang="en-US" sz="3200" dirty="0"/>
          </a:p>
          <a:p>
            <a:endParaRPr lang="en-US" sz="3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1CAD0A-4CD9-99CA-ACDC-208987AA26B0}"/>
              </a:ext>
            </a:extLst>
          </p:cNvPr>
          <p:cNvSpPr/>
          <p:nvPr/>
        </p:nvSpPr>
        <p:spPr>
          <a:xfrm>
            <a:off x="1280160" y="3563843"/>
            <a:ext cx="5496025" cy="51726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45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4055D-41AA-F17F-5CA9-7997484BE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Orthogonal Vectors (OV)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C17C45-DA1C-75AD-392A-1514951823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12795" y="1909017"/>
                <a:ext cx="10058400" cy="2374225"/>
              </a:xfrm>
            </p:spPr>
            <p:txBody>
              <a:bodyPr>
                <a:normAutofit/>
              </a:bodyPr>
              <a:lstStyle/>
              <a:p>
                <a:r>
                  <a:rPr lang="en-US" sz="2400" b="1" dirty="0"/>
                  <a:t>Input</a:t>
                </a:r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u="sng" dirty="0">
                    <a:solidFill>
                      <a:schemeClr val="tx1"/>
                    </a:solidFill>
                  </a:rPr>
                  <a:t>binary</a:t>
                </a:r>
                <a:r>
                  <a:rPr lang="en-US" sz="2400" u="sng" dirty="0"/>
                  <a:t> vectors</a:t>
                </a:r>
                <a:r>
                  <a:rPr lang="en-US" sz="2400" dirty="0"/>
                  <a:t> of dimension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sz="2400" b="0" dirty="0"/>
              </a:p>
              <a:p>
                <a:r>
                  <a:rPr lang="en-US" sz="2400" b="1" dirty="0"/>
                  <a:t>Output</a:t>
                </a:r>
                <a:r>
                  <a:rPr lang="en-US" sz="2400" dirty="0"/>
                  <a:t>: Are there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400" dirty="0"/>
                  <a:t>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=0?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(Equivalently,  </a:t>
                </a:r>
                <a:r>
                  <a:rPr lang="en-US" sz="2400" dirty="0">
                    <a:solidFill>
                      <a:srgbClr val="0070C0"/>
                    </a:solidFill>
                  </a:rPr>
                  <a:t>in every coordinate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lit/>
                      </m:rPr>
                      <a:rPr lang="en-US" sz="2400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1,2,…,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lit/>
                      </m:rPr>
                      <a:rPr lang="en-US" sz="24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400" dirty="0"/>
                  <a:t>, either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]=0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dirty="0"/>
                  <a:t>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/>
                  <a:t>) </a:t>
                </a:r>
              </a:p>
              <a:p>
                <a:r>
                  <a:rPr lang="en-US" sz="2400" dirty="0"/>
                  <a:t>Naïve algo: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time.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C17C45-DA1C-75AD-392A-1514951823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2795" y="1909017"/>
                <a:ext cx="10058400" cy="2374225"/>
              </a:xfrm>
              <a:blipFill>
                <a:blip r:embed="rId2"/>
                <a:stretch>
                  <a:fillRect l="-970" t="-3590" r="-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22996E6-5F84-EFAF-B62B-3753E72B0A33}"/>
                  </a:ext>
                </a:extLst>
              </p:cNvPr>
              <p:cNvSpPr txBox="1"/>
              <p:nvPr/>
            </p:nvSpPr>
            <p:spPr>
              <a:xfrm>
                <a:off x="8684394" y="1737360"/>
                <a:ext cx="6097604" cy="4769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:r>
                  <a:rPr lang="en-US" sz="2400" b="0" dirty="0"/>
                  <a:t>(should think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(1)</m:t>
                        </m:r>
                      </m:sup>
                    </m:sSup>
                  </m:oMath>
                </a14:m>
                <a:r>
                  <a:rPr lang="en-US" sz="2400" dirty="0"/>
                  <a:t>)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22996E6-5F84-EFAF-B62B-3753E72B0A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4394" y="1737360"/>
                <a:ext cx="6097604" cy="476990"/>
              </a:xfrm>
              <a:prstGeom prst="rect">
                <a:avLst/>
              </a:prstGeom>
              <a:blipFill>
                <a:blip r:embed="rId3"/>
                <a:stretch>
                  <a:fillRect l="-1600" t="-6410" b="-294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60E9CB5A-6055-6AF8-1E46-1B3B6F166D74}"/>
              </a:ext>
            </a:extLst>
          </p:cNvPr>
          <p:cNvSpPr txBox="1"/>
          <p:nvPr/>
        </p:nvSpPr>
        <p:spPr>
          <a:xfrm>
            <a:off x="912795" y="4094408"/>
            <a:ext cx="10744199" cy="95410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FF0000"/>
                </a:solidFill>
              </a:rPr>
              <a:t>SETH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for every 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sym typeface="Symbol"/>
              </a:rPr>
              <a:t>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&gt; 0, there is a k such that k-SAT on n variables cannot be solved in </a:t>
            </a:r>
            <a:r>
              <a:rPr lang="en-US" sz="2800" dirty="0">
                <a:solidFill>
                  <a:srgbClr val="FF0000"/>
                </a:solidFill>
              </a:rPr>
              <a:t>2</a:t>
            </a:r>
            <a:r>
              <a:rPr lang="en-US" sz="2800" baseline="30000" dirty="0">
                <a:solidFill>
                  <a:srgbClr val="FF0000"/>
                </a:solidFill>
              </a:rPr>
              <a:t>(1-</a:t>
            </a:r>
            <a:r>
              <a:rPr lang="en-US" sz="2800" baseline="30000" dirty="0">
                <a:solidFill>
                  <a:srgbClr val="FF0000"/>
                </a:solidFill>
                <a:sym typeface="Symbol"/>
              </a:rPr>
              <a:t>)</a:t>
            </a:r>
            <a:r>
              <a:rPr lang="en-US" sz="2800" baseline="30000" dirty="0">
                <a:solidFill>
                  <a:srgbClr val="FF0000"/>
                </a:solidFill>
              </a:rPr>
              <a:t>n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time.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FC220A6-F953-F56D-AF2B-E5A029CB0754}"/>
                  </a:ext>
                </a:extLst>
              </p:cNvPr>
              <p:cNvSpPr txBox="1"/>
              <p:nvPr/>
            </p:nvSpPr>
            <p:spPr>
              <a:xfrm>
                <a:off x="789269" y="5260114"/>
                <a:ext cx="10943927" cy="83099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US" sz="2400" b="1" dirty="0"/>
                  <a:t>Theorem [Williams’04</a:t>
                </a:r>
                <a:r>
                  <a:rPr lang="en-US" sz="2400" dirty="0"/>
                  <a:t>]: If OV has an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𝜖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poly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sz="2400" dirty="0"/>
                  <a:t> time algorithm for any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2400" dirty="0"/>
                  <a:t>, then SETH is false!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FC220A6-F953-F56D-AF2B-E5A029CB07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269" y="5260114"/>
                <a:ext cx="10943927" cy="830997"/>
              </a:xfrm>
              <a:prstGeom prst="rect">
                <a:avLst/>
              </a:prstGeom>
              <a:blipFill>
                <a:blip r:embed="rId4"/>
                <a:stretch>
                  <a:fillRect l="-778" t="-5036" b="-143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8586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649" y="-68683"/>
            <a:ext cx="9423534" cy="1293028"/>
          </a:xfrm>
        </p:spPr>
        <p:txBody>
          <a:bodyPr>
            <a:normAutofit fontScale="90000"/>
          </a:bodyPr>
          <a:lstStyle/>
          <a:p>
            <a:r>
              <a:rPr lang="en-US" dirty="0"/>
              <a:t>Fast OV implies SETH is false [Williams’04]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344631"/>
                <a:ext cx="11379200" cy="4830763"/>
              </a:xfrm>
            </p:spPr>
            <p:txBody>
              <a:bodyPr>
                <a:normAutofit/>
              </a:bodyPr>
              <a:lstStyle/>
              <a:p>
                <a:pPr>
                  <a:buNone/>
                </a:pPr>
                <a:r>
                  <a:rPr lang="en-US" sz="2400" dirty="0"/>
                  <a:t>F: k-CNF-SAT-formula on n vars, m&lt;=O(</a:t>
                </a:r>
                <a:r>
                  <a:rPr lang="en-US" sz="2400" dirty="0" err="1"/>
                  <a:t>n^k</a:t>
                </a:r>
                <a:r>
                  <a:rPr lang="en-US" sz="2400" dirty="0"/>
                  <a:t>) clauses</a:t>
                </a:r>
              </a:p>
              <a:p>
                <a:pPr>
                  <a:buNone/>
                </a:pPr>
                <a:r>
                  <a:rPr lang="en-US" sz="2400" dirty="0"/>
                  <a:t>E.g.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∨</m:t>
                        </m:r>
                        <m:sSub>
                          <m:sSubPr>
                            <m:ctrlPr>
                              <a:rPr lang="en-US" sz="2400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40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∧ </m:t>
                    </m:r>
                    <m:d>
                      <m:dPr>
                        <m:ctrlPr>
                          <a:rPr lang="en-US" sz="240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¬ </m:t>
                        </m:r>
                        <m:sSub>
                          <m:sSubPr>
                            <m:ctrlPr>
                              <a:rPr lang="en-US" sz="2400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∨ </m:t>
                        </m:r>
                        <m:sSub>
                          <m:sSubPr>
                            <m:ctrlPr>
                              <a:rPr lang="en-US" sz="2400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240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∨ </m:t>
                        </m:r>
                        <m:sSub>
                          <m:sSubPr>
                            <m:ctrlPr>
                              <a:rPr lang="en-US" sz="2400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d>
                    <m:r>
                      <a:rPr lang="en-US" sz="240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∧</m:t>
                    </m:r>
                    <m:d>
                      <m:dPr>
                        <m:ctrlPr>
                          <a:rPr lang="en-US" sz="240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¬ </m:t>
                        </m:r>
                        <m:sSub>
                          <m:sSubPr>
                            <m:ctrlPr>
                              <a:rPr lang="en-US" sz="2400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∨¬</m:t>
                        </m:r>
                        <m:r>
                          <a:rPr lang="en-US" sz="24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400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d>
                  </m:oMath>
                </a14:m>
                <a:endParaRPr lang="en-US" sz="2400" dirty="0">
                  <a:solidFill>
                    <a:srgbClr val="FFFF00"/>
                  </a:solidFill>
                </a:endParaRPr>
              </a:p>
              <a:p>
                <a:pPr>
                  <a:buNone/>
                </a:pPr>
                <a:endParaRPr lang="en-US" sz="2400" dirty="0"/>
              </a:p>
              <a:p>
                <a:pPr>
                  <a:buNone/>
                </a:pPr>
                <a:r>
                  <a:rPr lang="en-US" sz="2400" dirty="0"/>
                  <a:t>Split the </a:t>
                </a:r>
                <a:r>
                  <a:rPr lang="en-US" sz="2400" dirty="0" err="1"/>
                  <a:t>vars</a:t>
                </a:r>
                <a:r>
                  <a:rPr lang="en-US" sz="2400" dirty="0"/>
                  <a:t> into V</a:t>
                </a:r>
                <a:r>
                  <a:rPr lang="en-US" sz="2400" baseline="-25000" dirty="0"/>
                  <a:t>1</a:t>
                </a:r>
                <a:r>
                  <a:rPr lang="en-US" sz="2400" dirty="0"/>
                  <a:t> and V</a:t>
                </a:r>
                <a:r>
                  <a:rPr lang="en-US" sz="2400" baseline="-25000" dirty="0"/>
                  <a:t>2</a:t>
                </a:r>
                <a:r>
                  <a:rPr lang="en-US" sz="2400" dirty="0"/>
                  <a:t> on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err="1"/>
                  <a:t>vars</a:t>
                </a:r>
                <a:r>
                  <a:rPr lang="en-US" sz="2400" dirty="0"/>
                  <a:t> each</a:t>
                </a:r>
              </a:p>
              <a:p>
                <a:pPr>
                  <a:buNone/>
                </a:pPr>
                <a:r>
                  <a:rPr lang="en-US" sz="2400" dirty="0"/>
                  <a:t>E.g. </a:t>
                </a:r>
                <a:r>
                  <a:rPr lang="en-US" sz="2400" dirty="0">
                    <a:solidFill>
                      <a:srgbClr val="002060"/>
                    </a:solidFill>
                  </a:rPr>
                  <a:t>V</a:t>
                </a:r>
                <a:r>
                  <a:rPr lang="en-US" sz="2400" baseline="-25000" dirty="0">
                    <a:solidFill>
                      <a:srgbClr val="002060"/>
                    </a:solidFill>
                  </a:rPr>
                  <a:t>1</a:t>
                </a:r>
                <a:r>
                  <a:rPr lang="en-US" sz="2400" dirty="0">
                    <a:solidFill>
                      <a:srgbClr val="002060"/>
                    </a:solidFill>
                  </a:rPr>
                  <a:t> = {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002060"/>
                    </a:solidFill>
                  </a:rPr>
                  <a:t>}, V</a:t>
                </a:r>
                <a:r>
                  <a:rPr lang="en-US" sz="2400" baseline="-25000" dirty="0">
                    <a:solidFill>
                      <a:srgbClr val="002060"/>
                    </a:solidFill>
                  </a:rPr>
                  <a:t>2</a:t>
                </a:r>
                <a:r>
                  <a:rPr lang="en-US" sz="2400" dirty="0">
                    <a:solidFill>
                      <a:srgbClr val="002060"/>
                    </a:solidFill>
                  </a:rPr>
                  <a:t> = {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40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002060"/>
                    </a:solidFill>
                  </a:rPr>
                  <a:t>}</a:t>
                </a:r>
              </a:p>
              <a:p>
                <a:pPr>
                  <a:buNone/>
                </a:pPr>
                <a:endParaRPr lang="en-US" sz="2400" dirty="0"/>
              </a:p>
              <a:p>
                <a:pPr>
                  <a:buNone/>
                </a:pPr>
                <a:endParaRPr lang="en-US" sz="2400" dirty="0"/>
              </a:p>
              <a:p>
                <a:pPr>
                  <a:spcAft>
                    <a:spcPts val="600"/>
                  </a:spcAft>
                  <a:buNone/>
                </a:pPr>
                <a:r>
                  <a:rPr lang="en-US" sz="2400" dirty="0"/>
                  <a:t>For j=1,2 consider the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partial assignments</a:t>
                </a:r>
                <a:r>
                  <a:rPr lang="en-US" sz="2400" b="1" dirty="0">
                    <a:solidFill>
                      <a:srgbClr val="FFFF00"/>
                    </a:solidFill>
                  </a:rPr>
                  <a:t> </a:t>
                </a:r>
                <a:r>
                  <a:rPr lang="en-US" sz="2400" dirty="0"/>
                  <a:t>of </a:t>
                </a:r>
                <a:r>
                  <a:rPr lang="en-US" sz="2400" dirty="0" err="1"/>
                  <a:t>V</a:t>
                </a:r>
                <a:r>
                  <a:rPr lang="en-US" sz="2400" b="1" baseline="-25000" dirty="0" err="1"/>
                  <a:t>j</a:t>
                </a:r>
                <a:r>
                  <a:rPr lang="en-US" sz="2400" b="1" baseline="-25000" dirty="0"/>
                  <a:t> </a:t>
                </a:r>
                <a:r>
                  <a:rPr lang="en-US" sz="2400" b="1" dirty="0"/>
                  <a:t> : there are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b="1" dirty="0"/>
                  <a:t>of them.</a:t>
                </a:r>
                <a:endParaRPr lang="en-US" sz="2400" b="1" baseline="-25000" dirty="0"/>
              </a:p>
              <a:p>
                <a:pPr>
                  <a:spcAft>
                    <a:spcPts val="600"/>
                  </a:spcAft>
                  <a:buNone/>
                </a:pPr>
                <a:r>
                  <a:rPr lang="en-US" sz="2400" dirty="0"/>
                  <a:t>E.g. for V</a:t>
                </a:r>
                <a:r>
                  <a:rPr lang="en-US" sz="2400" baseline="-25000" dirty="0"/>
                  <a:t>1</a:t>
                </a:r>
                <a:r>
                  <a:rPr lang="en-US" sz="2400" dirty="0"/>
                  <a:t>:   </a:t>
                </a:r>
                <a:r>
                  <a:rPr lang="en-US" sz="2400" dirty="0">
                    <a:solidFill>
                      <a:srgbClr val="7030A0"/>
                    </a:solidFill>
                  </a:rPr>
                  <a:t>{ 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=0, </m:t>
                    </m:r>
                    <m:sSub>
                      <m:sSubPr>
                        <m:ctrlPr>
                          <a:rPr lang="en-US" sz="240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>
                    <a:solidFill>
                      <a:srgbClr val="7030A0"/>
                    </a:solidFill>
                  </a:rPr>
                  <a:t>], 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=0, </m:t>
                    </m:r>
                    <m:sSub>
                      <m:sSubPr>
                        <m:ctrlPr>
                          <a:rPr lang="en-US" sz="240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400" dirty="0">
                    <a:solidFill>
                      <a:srgbClr val="7030A0"/>
                    </a:solidFill>
                  </a:rPr>
                  <a:t>], 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=1, </m:t>
                    </m:r>
                    <m:sSub>
                      <m:sSubPr>
                        <m:ctrlPr>
                          <a:rPr lang="en-US" sz="240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>
                    <a:solidFill>
                      <a:srgbClr val="7030A0"/>
                    </a:solidFill>
                  </a:rPr>
                  <a:t>], 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=1, </m:t>
                    </m:r>
                    <m:sSub>
                      <m:sSubPr>
                        <m:ctrlPr>
                          <a:rPr lang="en-US" sz="240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400" dirty="0">
                    <a:solidFill>
                      <a:srgbClr val="7030A0"/>
                    </a:solidFill>
                  </a:rPr>
                  <a:t>]}</a:t>
                </a:r>
              </a:p>
              <a:p>
                <a:pPr>
                  <a:buNone/>
                </a:pPr>
                <a:endParaRPr lang="en-US" sz="2400" dirty="0">
                  <a:solidFill>
                    <a:srgbClr val="7030A0"/>
                  </a:solidFill>
                </a:endParaRPr>
              </a:p>
              <a:p>
                <a:pPr>
                  <a:buNone/>
                </a:pPr>
                <a:endParaRPr lang="en-US" sz="24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344631"/>
                <a:ext cx="11379200" cy="4830763"/>
              </a:xfrm>
              <a:blipFill>
                <a:blip r:embed="rId2"/>
                <a:stretch>
                  <a:fillRect l="-1607" t="-17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DABC292-85C8-8C3E-E0CF-9EB8C817F154}"/>
                  </a:ext>
                </a:extLst>
              </p:cNvPr>
              <p:cNvSpPr/>
              <p:nvPr/>
            </p:nvSpPr>
            <p:spPr>
              <a:xfrm>
                <a:off x="7943360" y="1848612"/>
                <a:ext cx="3905740" cy="1170495"/>
              </a:xfrm>
              <a:prstGeom prst="rect">
                <a:avLst/>
              </a:prstGeom>
              <a:solidFill>
                <a:srgbClr val="DF2E28"/>
              </a:solidFill>
              <a:ln w="12700" cap="flat" cmpd="sng" algn="ctr">
                <a:solidFill>
                  <a:srgbClr val="DF2E28">
                    <a:shade val="50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entury Gothic"/>
                    <a:ea typeface="+mn-ea"/>
                    <a:cs typeface="+mn-cs"/>
                  </a:rPr>
                  <a:t>OV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Century Gothic"/>
                    <a:ea typeface="+mn-ea"/>
                    <a:cs typeface="+mn-cs"/>
                  </a:rPr>
                  <a:t>: Given a set S of N vectors      in {0, 1}</a:t>
                </a:r>
                <a:r>
                  <a:rPr kumimoji="0" lang="en-US" sz="2000" b="0" i="0" u="none" strike="noStrike" kern="0" cap="none" spc="0" normalizeH="0" baseline="30000" noProof="0" dirty="0">
                    <a:ln>
                      <a:noFill/>
                    </a:ln>
                    <a:solidFill>
                      <a:prstClr val="white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Century Gothic"/>
                    <a:ea typeface="+mn-ea"/>
                    <a:cs typeface="+mn-cs"/>
                  </a:rPr>
                  <a:t>d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Century Gothic"/>
                    <a:ea typeface="+mn-ea"/>
                    <a:cs typeface="+mn-cs"/>
                  </a:rPr>
                  <a:t>, are there u, v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prstClr val="white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∈ </m:t>
                    </m:r>
                  </m:oMath>
                </a14:m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Century Gothic"/>
                    <a:ea typeface="+mn-ea"/>
                    <a:cs typeface="+mn-cs"/>
                  </a:rPr>
                  <a:t>S with </a:t>
                </a:r>
                <a:r>
                  <a:rPr kumimoji="0" 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Century Gothic"/>
                    <a:ea typeface="+mn-ea"/>
                    <a:cs typeface="+mn-cs"/>
                  </a:rPr>
                  <a:t>u </a:t>
                </a:r>
                <a14:m>
                  <m:oMath xmlns:m="http://schemas.openxmlformats.org/officeDocument/2006/math">
                    <m:r>
                      <a:rPr kumimoji="0" lang="en-US" sz="20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white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⋅</m:t>
                    </m:r>
                  </m:oMath>
                </a14:m>
                <a:r>
                  <a:rPr kumimoji="0" 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Century Gothic"/>
                    <a:ea typeface="+mn-ea"/>
                    <a:cs typeface="+mn-cs"/>
                  </a:rPr>
                  <a:t> v = 0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Century Gothic"/>
                    <a:ea typeface="+mn-ea"/>
                    <a:cs typeface="+mn-cs"/>
                  </a:rPr>
                  <a:t>?</a:t>
                </a: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DABC292-85C8-8C3E-E0CF-9EB8C817F1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3360" y="1848612"/>
                <a:ext cx="3905740" cy="1170495"/>
              </a:xfrm>
              <a:prstGeom prst="rect">
                <a:avLst/>
              </a:prstGeom>
              <a:blipFill>
                <a:blip r:embed="rId3"/>
                <a:stretch>
                  <a:fillRect l="-933" r="-11509" b="-2062"/>
                </a:stretch>
              </a:blipFill>
              <a:ln w="12700" cap="flat" cmpd="sng" algn="ctr">
                <a:solidFill>
                  <a:srgbClr val="DF2E28">
                    <a:shade val="50000"/>
                  </a:srgbClr>
                </a:solidFill>
                <a:prstDash val="solid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0FCE871-032D-918D-0BDE-7776D13566E6}"/>
                  </a:ext>
                </a:extLst>
              </p:cNvPr>
              <p:cNvSpPr/>
              <p:nvPr/>
            </p:nvSpPr>
            <p:spPr>
              <a:xfrm>
                <a:off x="7946601" y="3019107"/>
                <a:ext cx="3903579" cy="1614603"/>
              </a:xfrm>
              <a:prstGeom prst="rect">
                <a:avLst/>
              </a:prstGeom>
              <a:solidFill>
                <a:srgbClr val="4A9BDC">
                  <a:lumMod val="50000"/>
                </a:srgbClr>
              </a:solidFill>
              <a:ln w="12700" cap="flat" cmpd="sng" algn="ctr">
                <a:solidFill>
                  <a:srgbClr val="DF2E28">
                    <a:shade val="50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entury Gothic"/>
                    <a:ea typeface="+mn-ea"/>
                    <a:cs typeface="+mn-cs"/>
                  </a:rPr>
                  <a:t>Given F, we want to create a set of vectors S 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Century Gothic"/>
                    <a:ea typeface="+mn-ea"/>
                    <a:cs typeface="+mn-cs"/>
                  </a:rPr>
                  <a:t>in {0,1}</a:t>
                </a:r>
                <a:r>
                  <a:rPr kumimoji="0" lang="en-US" sz="2000" b="0" i="0" u="none" strike="noStrike" kern="0" cap="none" spc="0" normalizeH="0" baseline="30000" noProof="0" dirty="0">
                    <a:ln>
                      <a:noFill/>
                    </a:ln>
                    <a:solidFill>
                      <a:prstClr val="white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Century Gothic"/>
                    <a:ea typeface="+mn-ea"/>
                    <a:cs typeface="+mn-cs"/>
                  </a:rPr>
                  <a:t>d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entury Gothic"/>
                    <a:ea typeface="+mn-ea"/>
                    <a:cs typeface="+mn-cs"/>
                  </a:rPr>
                  <a:t> so that there is an 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entury Gothic"/>
                    <a:ea typeface="+mn-ea"/>
                    <a:cs typeface="+mn-cs"/>
                  </a:rPr>
                  <a:t>orthogonal pair 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entury Gothic"/>
                    <a:ea typeface="+mn-ea"/>
                    <a:cs typeface="+mn-cs"/>
                  </a:rPr>
                  <a:t>if and only if 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entury Gothic"/>
                    <a:ea typeface="+mn-ea"/>
                    <a:cs typeface="+mn-cs"/>
                  </a:rPr>
                  <a:t>F is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entury Gothic"/>
                    <a:ea typeface="+mn-ea"/>
                    <a:cs typeface="+mn-cs"/>
                  </a:rPr>
                  <a:t>satisfiable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entury Gothic"/>
                    <a:ea typeface="+mn-ea"/>
                    <a:cs typeface="+mn-cs"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entury Gothic"/>
                    <a:ea typeface="+mn-ea"/>
                    <a:cs typeface="+mn-cs"/>
                  </a:rPr>
                  <a:t>and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entury Gothic"/>
                    <a:ea typeface="+mn-ea"/>
                    <a:cs typeface="+mn-cs"/>
                  </a:rPr>
                  <a:t> |S|~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20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sz="20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e>
                      <m:sup>
                        <m:r>
                          <a:rPr kumimoji="0" lang="en-US" sz="20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𝑛</m:t>
                        </m:r>
                        <m:r>
                          <a:rPr kumimoji="0" lang="en-US" sz="20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/2</m:t>
                        </m:r>
                      </m:sup>
                    </m:sSup>
                  </m:oMath>
                </a14:m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entury Gothic"/>
                    <a:ea typeface="+mn-ea"/>
                    <a:cs typeface="+mn-cs"/>
                  </a:rPr>
                  <a:t> and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𝑑</m:t>
                    </m:r>
                    <m:r>
                      <a:rPr kumimoji="0" lang="en-US" sz="20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~</m:t>
                    </m:r>
                    <m:r>
                      <a:rPr kumimoji="0" lang="en-US" sz="20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𝑚</m:t>
                    </m:r>
                    <m:r>
                      <a:rPr kumimoji="0" lang="en-US" sz="20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.</m:t>
                    </m:r>
                  </m:oMath>
                </a14:m>
                <a:endParaRPr kumimoji="0" lang="en-US" sz="2000" b="0" i="0" u="none" strike="noStrike" kern="0" cap="none" spc="0" normalizeH="0" baseline="3000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0FCE871-032D-918D-0BDE-7776D13566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6601" y="3019107"/>
                <a:ext cx="3903579" cy="1614603"/>
              </a:xfrm>
              <a:prstGeom prst="rect">
                <a:avLst/>
              </a:prstGeom>
              <a:blipFill>
                <a:blip r:embed="rId4"/>
                <a:stretch>
                  <a:fillRect l="-1558" t="-1873" r="-1713" b="-6742"/>
                </a:stretch>
              </a:blipFill>
              <a:ln w="12700" cap="flat" cmpd="sng" algn="ctr">
                <a:solidFill>
                  <a:srgbClr val="DF2E28">
                    <a:shade val="50000"/>
                  </a:srgbClr>
                </a:solidFill>
                <a:prstDash val="solid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753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084194" y="2738896"/>
            <a:ext cx="5107806" cy="879066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6404" y="-366959"/>
            <a:ext cx="10173634" cy="1293028"/>
          </a:xfrm>
        </p:spPr>
        <p:txBody>
          <a:bodyPr>
            <a:normAutofit/>
          </a:bodyPr>
          <a:lstStyle/>
          <a:p>
            <a:r>
              <a:rPr lang="en-US" dirty="0"/>
              <a:t>Fast OV implies SETH is false [Williams’04]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95401"/>
            <a:ext cx="11379200" cy="48307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dirty="0"/>
              <a:t>F- CNF-formula on n </a:t>
            </a:r>
            <a:r>
              <a:rPr lang="en-US" sz="2000" dirty="0" err="1"/>
              <a:t>vars</a:t>
            </a:r>
            <a:r>
              <a:rPr lang="en-US" sz="2000" dirty="0"/>
              <a:t>, m clauses</a:t>
            </a:r>
          </a:p>
          <a:p>
            <a:pPr>
              <a:buNone/>
            </a:pPr>
            <a:r>
              <a:rPr lang="en-US" sz="2000" dirty="0"/>
              <a:t>Split the </a:t>
            </a:r>
            <a:r>
              <a:rPr lang="en-US" sz="2000" dirty="0" err="1"/>
              <a:t>vars</a:t>
            </a:r>
            <a:r>
              <a:rPr lang="en-US" sz="2000" dirty="0"/>
              <a:t> into V</a:t>
            </a:r>
            <a:r>
              <a:rPr lang="en-US" sz="2000" baseline="-25000" dirty="0"/>
              <a:t>1</a:t>
            </a:r>
            <a:r>
              <a:rPr lang="en-US" sz="2000" dirty="0"/>
              <a:t> and V</a:t>
            </a:r>
            <a:r>
              <a:rPr lang="en-US" sz="2000" baseline="-25000" dirty="0"/>
              <a:t>2</a:t>
            </a:r>
            <a:r>
              <a:rPr lang="en-US" sz="2000" dirty="0"/>
              <a:t> on n/2 </a:t>
            </a:r>
            <a:r>
              <a:rPr lang="en-US" sz="2000" dirty="0" err="1"/>
              <a:t>vars</a:t>
            </a:r>
            <a:r>
              <a:rPr lang="en-US" sz="2000" dirty="0"/>
              <a:t> each</a:t>
            </a:r>
          </a:p>
          <a:p>
            <a:pPr>
              <a:spcAft>
                <a:spcPts val="600"/>
              </a:spcAft>
              <a:buNone/>
            </a:pPr>
            <a:r>
              <a:rPr lang="en-US" sz="2800" dirty="0"/>
              <a:t>For j=1,2 and each </a:t>
            </a:r>
            <a:r>
              <a:rPr lang="en-US" sz="2800" b="1" dirty="0"/>
              <a:t>partial assignment </a:t>
            </a:r>
            <a:r>
              <a:rPr lang="en-US" sz="2800" dirty="0">
                <a:sym typeface="Symbol"/>
              </a:rPr>
              <a:t></a:t>
            </a:r>
            <a:r>
              <a:rPr lang="en-US" sz="2800" dirty="0"/>
              <a:t> of </a:t>
            </a:r>
            <a:r>
              <a:rPr lang="en-US" sz="2800" dirty="0" err="1"/>
              <a:t>V</a:t>
            </a:r>
            <a:r>
              <a:rPr lang="en-US" sz="2800" b="1" baseline="-25000" dirty="0" err="1"/>
              <a:t>j</a:t>
            </a:r>
            <a:r>
              <a:rPr lang="en-US" sz="2800" dirty="0"/>
              <a:t> create (m+2) length vector </a:t>
            </a:r>
            <a:r>
              <a:rPr lang="en-US" sz="2800" dirty="0">
                <a:solidFill>
                  <a:srgbClr val="FF0000"/>
                </a:solidFill>
              </a:rPr>
              <a:t>v(j, </a:t>
            </a:r>
            <a:r>
              <a:rPr lang="en-US" sz="2800" dirty="0">
                <a:solidFill>
                  <a:srgbClr val="FF0000"/>
                </a:solidFill>
                <a:sym typeface="Symbol"/>
              </a:rPr>
              <a:t></a:t>
            </a:r>
            <a:r>
              <a:rPr lang="en-US" sz="2800" dirty="0">
                <a:solidFill>
                  <a:srgbClr val="FF0000"/>
                </a:solidFill>
              </a:rPr>
              <a:t>):</a:t>
            </a:r>
          </a:p>
          <a:p>
            <a:pPr>
              <a:lnSpc>
                <a:spcPct val="150000"/>
              </a:lnSpc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1200" y="3782030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FF00"/>
                          </a:solidFill>
                        </a:rPr>
                        <a:t>0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FF00"/>
                          </a:solidFill>
                        </a:rPr>
                        <a:t>1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Up Arrow 9"/>
          <p:cNvSpPr/>
          <p:nvPr/>
        </p:nvSpPr>
        <p:spPr>
          <a:xfrm>
            <a:off x="4064000" y="4163030"/>
            <a:ext cx="508000" cy="3048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3048000" y="4544030"/>
            <a:ext cx="599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0 if </a:t>
            </a:r>
            <a:r>
              <a:rPr lang="en-US" b="1" dirty="0">
                <a:sym typeface="Symbol"/>
              </a:rPr>
              <a:t></a:t>
            </a:r>
            <a:r>
              <a:rPr lang="en-US" b="1" dirty="0"/>
              <a:t> satisfies the clause, 1 otherwise</a:t>
            </a:r>
          </a:p>
        </p:txBody>
      </p:sp>
      <p:sp>
        <p:nvSpPr>
          <p:cNvPr id="12" name="Right Brace 11"/>
          <p:cNvSpPr/>
          <p:nvPr/>
        </p:nvSpPr>
        <p:spPr>
          <a:xfrm rot="5400000">
            <a:off x="1333500" y="3362930"/>
            <a:ext cx="381000" cy="1828800"/>
          </a:xfrm>
          <a:prstGeom prst="rightBrace">
            <a:avLst>
              <a:gd name="adj1" fmla="val 8333"/>
              <a:gd name="adj2" fmla="val 490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812800" y="4457670"/>
            <a:ext cx="233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all v(</a:t>
            </a:r>
            <a:r>
              <a:rPr lang="en-US" b="1" dirty="0"/>
              <a:t>1</a:t>
            </a:r>
            <a:r>
              <a:rPr lang="en-US" dirty="0"/>
              <a:t>, </a:t>
            </a:r>
            <a:r>
              <a:rPr lang="en-US" dirty="0">
                <a:sym typeface="Symbol"/>
              </a:rPr>
              <a:t></a:t>
            </a:r>
            <a:r>
              <a:rPr lang="en-US" dirty="0"/>
              <a:t>)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711200" y="4964499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FF00"/>
                          </a:solidFill>
                        </a:rPr>
                        <a:t>1</a:t>
                      </a:r>
                    </a:p>
                  </a:txBody>
                  <a:tcPr marL="121920" marR="121920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FF00"/>
                          </a:solidFill>
                        </a:rPr>
                        <a:t>0</a:t>
                      </a:r>
                    </a:p>
                  </a:txBody>
                  <a:tcPr marL="121920" marR="121920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marL="121920" marR="121920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marL="121920" marR="121920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121920" marR="121920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 marL="121920" marR="121920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 marL="121920" marR="121920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 marL="121920" marR="121920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 marL="121920" marR="121920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121920" marR="121920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" name="Up Arrow 19"/>
          <p:cNvSpPr/>
          <p:nvPr/>
        </p:nvSpPr>
        <p:spPr>
          <a:xfrm>
            <a:off x="4064000" y="5345499"/>
            <a:ext cx="508000" cy="304800"/>
          </a:xfrm>
          <a:prstGeom prst="up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ight Brace 21"/>
          <p:cNvSpPr/>
          <p:nvPr/>
        </p:nvSpPr>
        <p:spPr>
          <a:xfrm rot="5400000">
            <a:off x="1333500" y="4545399"/>
            <a:ext cx="381000" cy="1828800"/>
          </a:xfrm>
          <a:prstGeom prst="rightBrace">
            <a:avLst>
              <a:gd name="adj1" fmla="val 8333"/>
              <a:gd name="adj2" fmla="val 490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909899" y="5678585"/>
            <a:ext cx="233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all v(</a:t>
            </a:r>
            <a:r>
              <a:rPr lang="en-US" b="1" dirty="0"/>
              <a:t>2</a:t>
            </a:r>
            <a:r>
              <a:rPr lang="en-US" dirty="0"/>
              <a:t>, </a:t>
            </a:r>
            <a:r>
              <a:rPr lang="en-US" dirty="0">
                <a:sym typeface="Symbol"/>
              </a:rPr>
              <a:t></a:t>
            </a:r>
            <a:r>
              <a:rPr lang="en-US" dirty="0"/>
              <a:t>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49600" y="5698699"/>
            <a:ext cx="599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0 if </a:t>
            </a:r>
            <a:r>
              <a:rPr lang="en-US" b="1" dirty="0">
                <a:sym typeface="Symbol"/>
              </a:rPr>
              <a:t></a:t>
            </a:r>
            <a:r>
              <a:rPr lang="en-US" b="1" dirty="0"/>
              <a:t> satisfies the clause, </a:t>
            </a:r>
          </a:p>
          <a:p>
            <a:r>
              <a:rPr lang="en-US" b="1" dirty="0"/>
              <a:t>1 otherwise</a:t>
            </a:r>
          </a:p>
        </p:txBody>
      </p:sp>
      <p:sp>
        <p:nvSpPr>
          <p:cNvPr id="26" name="Left Brace 25"/>
          <p:cNvSpPr/>
          <p:nvPr/>
        </p:nvSpPr>
        <p:spPr>
          <a:xfrm rot="5400000">
            <a:off x="5397500" y="492730"/>
            <a:ext cx="381000" cy="65024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4978400" y="3248630"/>
            <a:ext cx="193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clauses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084194" y="2766988"/>
                <a:ext cx="517776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</a:rPr>
                  <a:t>E.g.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 dirty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 dirty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∨</m:t>
                        </m:r>
                        <m:sSub>
                          <m:sSubPr>
                            <m:ctrlPr>
                              <a:rPr lang="en-US" i="1" dirty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 dirty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i="1" dirty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∧ </m:t>
                    </m:r>
                    <m:d>
                      <m:dPr>
                        <m:ctrlPr>
                          <a:rPr lang="en-US" i="1" dirty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¬ </m:t>
                        </m:r>
                        <m:sSub>
                          <m:sSubPr>
                            <m:ctrlPr>
                              <a:rPr lang="en-US" i="1" dirty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 dirty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 dirty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∨ </m:t>
                        </m:r>
                        <m:sSub>
                          <m:sSubPr>
                            <m:ctrlPr>
                              <a:rPr lang="en-US" i="1" dirty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 dirty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i="1" dirty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∨ </m:t>
                        </m:r>
                        <m:sSub>
                          <m:sSubPr>
                            <m:ctrlPr>
                              <a:rPr lang="en-US" i="1" dirty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 dirty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d>
                    <m:r>
                      <a:rPr lang="en-US" i="1" dirty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∧</m:t>
                    </m:r>
                    <m:d>
                      <m:dPr>
                        <m:ctrlPr>
                          <a:rPr lang="en-US" i="1" dirty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¬ </m:t>
                        </m:r>
                        <m:sSub>
                          <m:sSubPr>
                            <m:ctrlPr>
                              <a:rPr lang="en-US" i="1" dirty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i="1" dirty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∨¬ </m:t>
                        </m:r>
                        <m:sSub>
                          <m:sSubPr>
                            <m:ctrlPr>
                              <a:rPr lang="en-US" i="1" dirty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 dirty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4194" y="2766988"/>
                <a:ext cx="5177764" cy="369332"/>
              </a:xfrm>
              <a:prstGeom prst="rect">
                <a:avLst/>
              </a:prstGeom>
              <a:blipFill>
                <a:blip r:embed="rId2"/>
                <a:stretch>
                  <a:fillRect l="-942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9252235" y="3157878"/>
                <a:ext cx="287918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buNone/>
                </a:pPr>
                <a:r>
                  <a:rPr lang="en-US" dirty="0">
                    <a:solidFill>
                      <a:srgbClr val="FFC000"/>
                    </a:solidFill>
                  </a:rPr>
                  <a:t>V</a:t>
                </a:r>
                <a:r>
                  <a:rPr lang="en-US" baseline="-25000" dirty="0">
                    <a:solidFill>
                      <a:srgbClr val="FFC000"/>
                    </a:solidFill>
                  </a:rPr>
                  <a:t>1</a:t>
                </a:r>
                <a:r>
                  <a:rPr lang="en-US" dirty="0">
                    <a:solidFill>
                      <a:srgbClr val="FFC000"/>
                    </a:solidFill>
                  </a:rPr>
                  <a:t> = {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 dirty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dirty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FFC000"/>
                    </a:solidFill>
                  </a:rPr>
                  <a:t>}, V</a:t>
                </a:r>
                <a:r>
                  <a:rPr lang="en-US" baseline="-25000" dirty="0">
                    <a:solidFill>
                      <a:srgbClr val="FFC000"/>
                    </a:solidFill>
                  </a:rPr>
                  <a:t>2</a:t>
                </a:r>
                <a:r>
                  <a:rPr lang="en-US" dirty="0">
                    <a:solidFill>
                      <a:srgbClr val="FFC000"/>
                    </a:solidFill>
                  </a:rPr>
                  <a:t> = {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 dirty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 dirty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 dirty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FFC000"/>
                    </a:solidFill>
                  </a:rPr>
                  <a:t>}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2235" y="3157878"/>
                <a:ext cx="2879186" cy="369332"/>
              </a:xfrm>
              <a:prstGeom prst="rect">
                <a:avLst/>
              </a:prstGeom>
              <a:blipFill>
                <a:blip r:embed="rId3"/>
                <a:stretch>
                  <a:fillRect l="-1907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9395327" y="3617962"/>
                <a:ext cx="2796673" cy="800219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</a:rPr>
                  <a:t>v(1,[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=0, </m:t>
                    </m:r>
                    <m:sSub>
                      <m:sSubPr>
                        <m:ctrlPr>
                          <a:rPr lang="en-US" i="1" dirty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]) =   </a:t>
                </a:r>
              </a:p>
              <a:p>
                <a:r>
                  <a:rPr lang="en-US" sz="2800" dirty="0"/>
                  <a:t>      </a:t>
                </a:r>
                <a:r>
                  <a:rPr lang="en-US" sz="2800" dirty="0">
                    <a:solidFill>
                      <a:schemeClr val="bg1"/>
                    </a:solidFill>
                  </a:rPr>
                  <a:t>[</a:t>
                </a:r>
                <a:r>
                  <a:rPr lang="en-US" sz="2800" dirty="0">
                    <a:solidFill>
                      <a:srgbClr val="FFFF00"/>
                    </a:solidFill>
                  </a:rPr>
                  <a:t>0, 1</a:t>
                </a:r>
                <a:r>
                  <a:rPr lang="en-US" sz="2800" dirty="0">
                    <a:solidFill>
                      <a:schemeClr val="bg1"/>
                    </a:solidFill>
                  </a:rPr>
                  <a:t>, 1, 0, 1]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5327" y="3617962"/>
                <a:ext cx="2796673" cy="800219"/>
              </a:xfrm>
              <a:prstGeom prst="rect">
                <a:avLst/>
              </a:prstGeom>
              <a:blipFill>
                <a:blip r:embed="rId4"/>
                <a:stretch>
                  <a:fillRect l="-1743" t="-3788" b="-204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EF7AA1F-A30D-4BB7-B731-95F4A3D4AFEC}"/>
                  </a:ext>
                </a:extLst>
              </p:cNvPr>
              <p:cNvSpPr txBox="1"/>
              <p:nvPr/>
            </p:nvSpPr>
            <p:spPr>
              <a:xfrm>
                <a:off x="7248468" y="977807"/>
                <a:ext cx="4779258" cy="7335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  <a:buNone/>
                </a:pPr>
                <a:r>
                  <a:rPr lang="en-US" sz="1800" dirty="0"/>
                  <a:t>For j=1,2 consider the </a:t>
                </a:r>
                <a:r>
                  <a:rPr lang="en-US" sz="1800" b="1" dirty="0">
                    <a:solidFill>
                      <a:srgbClr val="FF0000"/>
                    </a:solidFill>
                  </a:rPr>
                  <a:t>partial assignments</a:t>
                </a:r>
                <a:r>
                  <a:rPr lang="en-US" sz="1800" b="1" dirty="0">
                    <a:solidFill>
                      <a:srgbClr val="FFFF00"/>
                    </a:solidFill>
                  </a:rPr>
                  <a:t> </a:t>
                </a:r>
                <a:r>
                  <a:rPr lang="en-US" sz="1800" dirty="0"/>
                  <a:t>of </a:t>
                </a:r>
                <a:r>
                  <a:rPr lang="en-US" sz="1800" dirty="0" err="1"/>
                  <a:t>V</a:t>
                </a:r>
                <a:r>
                  <a:rPr lang="en-US" sz="1800" b="1" baseline="-25000" dirty="0" err="1"/>
                  <a:t>j</a:t>
                </a:r>
                <a:r>
                  <a:rPr lang="en-US" sz="1800" b="1" baseline="-25000" dirty="0"/>
                  <a:t> </a:t>
                </a:r>
                <a:r>
                  <a:rPr lang="en-US" sz="1800" b="1" dirty="0"/>
                  <a:t> : </a:t>
                </a:r>
              </a:p>
              <a:p>
                <a:pPr>
                  <a:spcAft>
                    <a:spcPts val="600"/>
                  </a:spcAft>
                  <a:buNone/>
                </a:pPr>
                <a:r>
                  <a:rPr lang="en-US" sz="1800" b="1" dirty="0"/>
                  <a:t>there are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1800" b="1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b="1" dirty="0"/>
                  <a:t>of them.</a:t>
                </a:r>
                <a:endParaRPr lang="en-US" sz="1800" b="1" baseline="-250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EF7AA1F-A30D-4BB7-B731-95F4A3D4AF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8468" y="977807"/>
                <a:ext cx="4779258" cy="733599"/>
              </a:xfrm>
              <a:prstGeom prst="rect">
                <a:avLst/>
              </a:prstGeom>
              <a:blipFill>
                <a:blip r:embed="rId5"/>
                <a:stretch>
                  <a:fillRect l="-1020" t="-4132" r="-765" b="-123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9707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1" grpId="0"/>
      <p:bldP spid="12" grpId="0" animBg="1"/>
      <p:bldP spid="13" grpId="0"/>
      <p:bldP spid="20" grpId="0" animBg="1"/>
      <p:bldP spid="22" grpId="0" animBg="1"/>
      <p:bldP spid="23" grpId="0"/>
      <p:bldP spid="25" grpId="0"/>
      <p:bldP spid="26" grpId="0" animBg="1"/>
      <p:bldP spid="27" grpId="0"/>
      <p:bldP spid="4" grpId="0"/>
      <p:bldP spid="5" grpId="0"/>
      <p:bldP spid="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205" y="-478164"/>
            <a:ext cx="8610600" cy="1293028"/>
          </a:xfrm>
        </p:spPr>
        <p:txBody>
          <a:bodyPr/>
          <a:lstStyle/>
          <a:p>
            <a:r>
              <a:rPr lang="en-US" dirty="0"/>
              <a:t>Fast OV implies SETH is false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95401"/>
            <a:ext cx="11379200" cy="4830763"/>
          </a:xfrm>
        </p:spPr>
        <p:txBody>
          <a:bodyPr>
            <a:normAutofit/>
          </a:bodyPr>
          <a:lstStyle/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9827381"/>
              </p:ext>
            </p:extLst>
          </p:nvPr>
        </p:nvGraphicFramePr>
        <p:xfrm>
          <a:off x="1825585" y="1150064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FF00"/>
                          </a:solidFill>
                        </a:rPr>
                        <a:t>0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FF00"/>
                          </a:solidFill>
                        </a:rPr>
                        <a:t>1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Up Arrow 9"/>
          <p:cNvSpPr/>
          <p:nvPr/>
        </p:nvSpPr>
        <p:spPr>
          <a:xfrm>
            <a:off x="5178385" y="1531064"/>
            <a:ext cx="508000" cy="3048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4162385" y="1912064"/>
            <a:ext cx="599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0 if </a:t>
            </a:r>
            <a:r>
              <a:rPr lang="en-US" b="1" dirty="0">
                <a:sym typeface="Symbol"/>
              </a:rPr>
              <a:t></a:t>
            </a:r>
            <a:r>
              <a:rPr lang="en-US" b="1" dirty="0"/>
              <a:t> satisfies the clause, 1 otherwise</a:t>
            </a:r>
          </a:p>
        </p:txBody>
      </p:sp>
      <p:sp>
        <p:nvSpPr>
          <p:cNvPr id="12" name="Right Brace 11"/>
          <p:cNvSpPr/>
          <p:nvPr/>
        </p:nvSpPr>
        <p:spPr>
          <a:xfrm rot="5400000">
            <a:off x="2447885" y="730964"/>
            <a:ext cx="381000" cy="1828800"/>
          </a:xfrm>
          <a:prstGeom prst="rightBrace">
            <a:avLst>
              <a:gd name="adj1" fmla="val 8333"/>
              <a:gd name="adj2" fmla="val 490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927185" y="1845914"/>
            <a:ext cx="233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all v(</a:t>
            </a:r>
            <a:r>
              <a:rPr lang="en-US" b="1" dirty="0"/>
              <a:t>1</a:t>
            </a:r>
            <a:r>
              <a:rPr lang="en-US" dirty="0"/>
              <a:t>, </a:t>
            </a:r>
            <a:r>
              <a:rPr lang="en-US" dirty="0">
                <a:sym typeface="Symbol"/>
              </a:rPr>
              <a:t></a:t>
            </a:r>
            <a:r>
              <a:rPr lang="en-US" dirty="0"/>
              <a:t>)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8310431"/>
              </p:ext>
            </p:extLst>
          </p:nvPr>
        </p:nvGraphicFramePr>
        <p:xfrm>
          <a:off x="1825585" y="2332533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FF00"/>
                          </a:solidFill>
                        </a:rPr>
                        <a:t>1</a:t>
                      </a:r>
                    </a:p>
                  </a:txBody>
                  <a:tcPr marL="121920" marR="121920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FF00"/>
                          </a:solidFill>
                        </a:rPr>
                        <a:t>0</a:t>
                      </a:r>
                    </a:p>
                  </a:txBody>
                  <a:tcPr marL="121920" marR="121920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marL="121920" marR="121920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marL="121920" marR="121920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121920" marR="121920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 marL="121920" marR="121920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 marL="121920" marR="121920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 marL="121920" marR="121920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 marL="121920" marR="121920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121920" marR="121920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" name="Up Arrow 19"/>
          <p:cNvSpPr/>
          <p:nvPr/>
        </p:nvSpPr>
        <p:spPr>
          <a:xfrm>
            <a:off x="5178385" y="2713533"/>
            <a:ext cx="508000" cy="304800"/>
          </a:xfrm>
          <a:prstGeom prst="up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ight Brace 21"/>
          <p:cNvSpPr/>
          <p:nvPr/>
        </p:nvSpPr>
        <p:spPr>
          <a:xfrm rot="5400000">
            <a:off x="2447885" y="1913433"/>
            <a:ext cx="381000" cy="1828800"/>
          </a:xfrm>
          <a:prstGeom prst="rightBrace">
            <a:avLst>
              <a:gd name="adj1" fmla="val 8333"/>
              <a:gd name="adj2" fmla="val 490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1927185" y="3029329"/>
            <a:ext cx="233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all v(</a:t>
            </a:r>
            <a:r>
              <a:rPr lang="en-US" b="1" dirty="0"/>
              <a:t>2</a:t>
            </a:r>
            <a:r>
              <a:rPr lang="en-US" dirty="0"/>
              <a:t>, </a:t>
            </a:r>
            <a:r>
              <a:rPr lang="en-US" dirty="0">
                <a:sym typeface="Symbol"/>
              </a:rPr>
              <a:t></a:t>
            </a:r>
            <a:r>
              <a:rPr lang="en-US" dirty="0"/>
              <a:t>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63985" y="3066733"/>
            <a:ext cx="599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0 if </a:t>
            </a:r>
            <a:r>
              <a:rPr lang="en-US" dirty="0">
                <a:sym typeface="Symbol"/>
              </a:rPr>
              <a:t></a:t>
            </a:r>
            <a:r>
              <a:rPr lang="en-US" b="1" dirty="0"/>
              <a:t> satisfies the clause, </a:t>
            </a:r>
          </a:p>
          <a:p>
            <a:r>
              <a:rPr lang="en-US" b="1" dirty="0"/>
              <a:t>1 otherwise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466725" y="3915225"/>
                <a:ext cx="10785208" cy="25028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/>
                  <a:t>Claim:   </a:t>
                </a:r>
                <a:r>
                  <a:rPr lang="en-US" sz="2800" dirty="0"/>
                  <a:t>v(1, </a:t>
                </a:r>
                <a:r>
                  <a:rPr lang="en-US" sz="2800" dirty="0">
                    <a:sym typeface="Symbol"/>
                  </a:rPr>
                  <a:t></a:t>
                </a:r>
                <a:r>
                  <a:rPr lang="en-US" sz="2800" dirty="0"/>
                  <a:t>)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⋅ </m:t>
                    </m:r>
                  </m:oMath>
                </a14:m>
                <a:r>
                  <a:rPr lang="en-US" sz="2800" dirty="0"/>
                  <a:t>v(2, </a:t>
                </a:r>
                <a:r>
                  <a:rPr lang="en-US" sz="2800" dirty="0">
                    <a:sym typeface="Symbol"/>
                  </a:rPr>
                  <a:t></a:t>
                </a:r>
                <a:r>
                  <a:rPr lang="en-US" sz="2800" dirty="0"/>
                  <a:t>) = 0 </a:t>
                </a:r>
                <a:r>
                  <a:rPr lang="en-US" sz="2800" dirty="0" err="1"/>
                  <a:t>iff</a:t>
                </a:r>
                <a:r>
                  <a:rPr lang="en-US" sz="2800" dirty="0"/>
                  <a:t> </a:t>
                </a:r>
                <a:r>
                  <a:rPr lang="en-US" sz="2800" dirty="0">
                    <a:sym typeface="Symbol"/>
                  </a:rPr>
                  <a:t>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sym typeface="Symbol"/>
                      </a:rPr>
                      <m:t>⊙</m:t>
                    </m:r>
                  </m:oMath>
                </a14:m>
                <a:r>
                  <a:rPr lang="en-US" sz="2800" dirty="0">
                    <a:sym typeface="Symbol"/>
                  </a:rPr>
                  <a:t> </a:t>
                </a:r>
                <a:r>
                  <a:rPr lang="en-US" sz="2800" dirty="0"/>
                  <a:t> is a sat assignment.</a:t>
                </a:r>
              </a:p>
              <a:p>
                <a:endParaRPr lang="en-US" sz="2800" dirty="0"/>
              </a:p>
              <a:p>
                <a:r>
                  <a:rPr lang="en-US" sz="2800" dirty="0"/>
                  <a:t>N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2⋅</m:t>
                        </m:r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/2</m:t>
                        </m:r>
                      </m:sup>
                    </m:sSup>
                  </m:oMath>
                </a14:m>
                <a:r>
                  <a:rPr lang="en-US" sz="2800" dirty="0"/>
                  <a:t> vectors of dimension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/>
                  <a:t> </a:t>
                </a:r>
                <a:r>
                  <a:rPr lang="en-US" sz="2800" dirty="0">
                    <a:latin typeface="Arial"/>
                    <a:cs typeface="Arial"/>
                  </a:rPr>
                  <a:t>→</a:t>
                </a:r>
                <a:r>
                  <a:rPr lang="en-US" sz="2800" dirty="0"/>
                  <a:t> an OV instance.</a:t>
                </a:r>
              </a:p>
              <a:p>
                <a:pPr algn="ctr"/>
                <a:r>
                  <a:rPr lang="en-US" sz="2800" dirty="0"/>
                  <a:t>So</a:t>
                </a:r>
                <a:r>
                  <a:rPr lang="en-US" sz="2800" dirty="0">
                    <a:solidFill>
                      <a:srgbClr val="FFFF0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2−</m:t>
                        </m:r>
                        <m:r>
                          <a:rPr lang="en-US" sz="28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sup>
                    </m:sSup>
                    <m:r>
                      <a:rPr lang="en-US" sz="28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𝑝𝑜𝑙𝑦</m:t>
                    </m:r>
                    <m:r>
                      <a:rPr lang="en-US" sz="28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8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>
                    <a:solidFill>
                      <a:srgbClr val="00B0F0"/>
                    </a:solidFill>
                  </a:rPr>
                  <a:t> </a:t>
                </a:r>
                <a:r>
                  <a:rPr lang="en-US" sz="2800" dirty="0"/>
                  <a:t>time for OV for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2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2800" dirty="0">
                    <a:solidFill>
                      <a:srgbClr val="FFFF00"/>
                    </a:solidFill>
                  </a:rPr>
                  <a:t> </a:t>
                </a:r>
                <a:r>
                  <a:rPr lang="en-US" sz="2800" dirty="0"/>
                  <a:t>implies</a:t>
                </a:r>
                <a:r>
                  <a:rPr lang="en-US" sz="2800" dirty="0">
                    <a:solidFill>
                      <a:srgbClr val="FFFF0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(1−</m:t>
                        </m:r>
                        <m:f>
                          <m:fPr>
                            <m:ctrlPr>
                              <a:rPr lang="en-US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𝛿</m:t>
                            </m:r>
                          </m:num>
                          <m:den>
                            <m:r>
                              <a:rPr lang="en-US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𝑝𝑜𝑙𝑦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  <a:r>
                  <a:rPr lang="en-US" sz="2800" dirty="0"/>
                  <a:t>time for k-SAT (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800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800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800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b="0" i="1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800" b="0" i="1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  <m:r>
                      <a:rPr lang="en-US" sz="2800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 b="0" i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poly</m:t>
                    </m:r>
                    <m:r>
                      <a:rPr lang="en-US" sz="2800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sz="2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en-US" sz="2800" dirty="0"/>
                  <a:t>and SETH is false.</a:t>
                </a:r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725" y="3915225"/>
                <a:ext cx="10785208" cy="2502801"/>
              </a:xfrm>
              <a:prstGeom prst="rect">
                <a:avLst/>
              </a:prstGeom>
              <a:blipFill>
                <a:blip r:embed="rId2"/>
                <a:stretch>
                  <a:fillRect l="-1187" t="-2920" r="-1865" b="-51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4B72911-1C81-455D-AC5E-1CC19CFD1C69}"/>
                  </a:ext>
                </a:extLst>
              </p:cNvPr>
              <p:cNvSpPr txBox="1"/>
              <p:nvPr/>
            </p:nvSpPr>
            <p:spPr>
              <a:xfrm>
                <a:off x="7077909" y="2803732"/>
                <a:ext cx="5053766" cy="1250535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The set of vectors 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  <m:d>
                              <m:dPr>
                                <m:ctrlP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1,</m:t>
                                </m:r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sSup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0,1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/2</m:t>
                            </m:r>
                          </m:sup>
                        </m:sSup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  <m:d>
                              <m:dPr>
                                <m:ctrlPr>
                                  <a:rPr lang="en-US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sSupPr>
                            <m:ctrlP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0,1</m:t>
                                </m:r>
                              </m:e>
                            </m:d>
                          </m:e>
                          <m:sup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/2</m:t>
                            </m:r>
                          </m:sup>
                        </m:sSup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has an orthogonal pair if and only if the SAT formula is satisfiable!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4B72911-1C81-455D-AC5E-1CC19CFD1C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7909" y="2803732"/>
                <a:ext cx="5053766" cy="1250535"/>
              </a:xfrm>
              <a:prstGeom prst="rect">
                <a:avLst/>
              </a:prstGeom>
              <a:blipFill>
                <a:blip r:embed="rId3"/>
                <a:stretch>
                  <a:fillRect t="-2927" r="-844" b="-68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CC595F5-270B-4821-B7B9-88654EEE90F2}"/>
                  </a:ext>
                </a:extLst>
              </p:cNvPr>
              <p:cNvSpPr txBox="1"/>
              <p:nvPr/>
            </p:nvSpPr>
            <p:spPr>
              <a:xfrm>
                <a:off x="9126537" y="630982"/>
                <a:ext cx="28622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1,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≠0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CC595F5-270B-4821-B7B9-88654EEE90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6537" y="630982"/>
                <a:ext cx="2862263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673F3BC-B0CE-48B9-BFE0-69E1EF71817B}"/>
                  </a:ext>
                </a:extLst>
              </p:cNvPr>
              <p:cNvSpPr txBox="1"/>
              <p:nvPr/>
            </p:nvSpPr>
            <p:spPr>
              <a:xfrm>
                <a:off x="9126537" y="1835864"/>
                <a:ext cx="28622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2,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≠0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673F3BC-B0CE-48B9-BFE0-69E1EF7181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6537" y="1835864"/>
                <a:ext cx="2862263" cy="369332"/>
              </a:xfrm>
              <a:prstGeom prst="rect">
                <a:avLst/>
              </a:prstGeom>
              <a:blipFill>
                <a:blip r:embed="rId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5268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4E7DB-A0B0-7122-F6AD-BDF18732D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BE6FA-4F99-CF2F-D066-15CE25B4D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EB02B-A8AA-2C1E-AF47-0DC6C86E55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Fine-Grained Complexity</a:t>
            </a:r>
          </a:p>
          <a:p>
            <a:pPr marL="0" indent="0">
              <a:buNone/>
            </a:pPr>
            <a:endParaRPr lang="en-US" sz="3200" dirty="0"/>
          </a:p>
          <a:p>
            <a:r>
              <a:rPr lang="en-US" sz="3200" dirty="0"/>
              <a:t>Some basic results (with proofs)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3000" dirty="0"/>
              <a:t>SETH -&gt; Orthogonal Vectors (OV)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3000" dirty="0"/>
              <a:t>OV -&gt; Diameter in sparse graphs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3000" dirty="0"/>
              <a:t>(optional) All-pairs Shortest Paths (APSP) -&gt; Negative Triangle</a:t>
            </a:r>
          </a:p>
          <a:p>
            <a:endParaRPr lang="en-US" sz="3200" dirty="0"/>
          </a:p>
          <a:p>
            <a:endParaRPr lang="en-US" sz="3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0C812D-CF69-367E-1BCC-AC8C7854E256}"/>
              </a:ext>
            </a:extLst>
          </p:cNvPr>
          <p:cNvSpPr/>
          <p:nvPr/>
        </p:nvSpPr>
        <p:spPr>
          <a:xfrm>
            <a:off x="1251284" y="4054732"/>
            <a:ext cx="5496025" cy="51726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550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A68D3-1757-C10E-EEE1-EA7FC6B68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286603"/>
            <a:ext cx="10501163" cy="1450757"/>
          </a:xfrm>
        </p:spPr>
        <p:txBody>
          <a:bodyPr>
            <a:normAutofit/>
          </a:bodyPr>
          <a:lstStyle/>
          <a:p>
            <a:r>
              <a:rPr lang="en-US" sz="4000" dirty="0"/>
              <a:t>Sparse Graph Diameter (</a:t>
            </a:r>
            <a:r>
              <a:rPr lang="en-US" sz="4000" dirty="0" err="1"/>
              <a:t>Roditty-Vassilevska</a:t>
            </a:r>
            <a:r>
              <a:rPr lang="en-US" sz="4000" dirty="0"/>
              <a:t> W.’13)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B867C9-D094-1C83-5B64-33F121C1B09B}"/>
              </a:ext>
            </a:extLst>
          </p:cNvPr>
          <p:cNvSpPr txBox="1"/>
          <p:nvPr/>
        </p:nvSpPr>
        <p:spPr>
          <a:xfrm>
            <a:off x="6382348" y="3115353"/>
            <a:ext cx="5321969" cy="95410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800" dirty="0"/>
              <a:t>Observation: Diameter is 3 if exists orthogonal pair, and is 2 otherwise.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CD2572C-AF20-D5FE-BBE8-9A23A8074AE4}"/>
                  </a:ext>
                </a:extLst>
              </p:cNvPr>
              <p:cNvSpPr txBox="1"/>
              <p:nvPr/>
            </p:nvSpPr>
            <p:spPr>
              <a:xfrm>
                <a:off x="660417" y="1788278"/>
                <a:ext cx="10501163" cy="973793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US" sz="2800" dirty="0"/>
                  <a:t>Reduce from </a:t>
                </a:r>
                <a:r>
                  <a:rPr lang="en-US" sz="2800" u="sng" dirty="0" err="1"/>
                  <a:t>Bichromatic</a:t>
                </a:r>
                <a:r>
                  <a:rPr lang="en-US" sz="2800" u="sng" dirty="0"/>
                  <a:t> OV</a:t>
                </a:r>
                <a:r>
                  <a:rPr lang="en-US" sz="2800" dirty="0"/>
                  <a:t>: given two size-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800" dirty="0"/>
                  <a:t> sets of binary vectors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⊂</m:t>
                    </m:r>
                    <m:r>
                      <m:rPr>
                        <m:lit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0,1</m:t>
                    </m:r>
                    <m:sSup>
                      <m:sSupPr>
                        <m:ctrlPr>
                          <a:rPr lang="en-US" sz="2800" b="0" i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lit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sz="2800" dirty="0"/>
                  <a:t>, do there exist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800" dirty="0"/>
                  <a:t> such that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800" dirty="0"/>
                  <a:t>? 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CD2572C-AF20-D5FE-BBE8-9A23A8074A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417" y="1788278"/>
                <a:ext cx="10501163" cy="973793"/>
              </a:xfrm>
              <a:prstGeom prst="rect">
                <a:avLst/>
              </a:prstGeom>
              <a:blipFill>
                <a:blip r:embed="rId3"/>
                <a:stretch>
                  <a:fillRect l="-1101" t="-4908" b="-141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75A8E8DA-D3F3-1891-43C2-4694E0DCD1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882" y="3053614"/>
            <a:ext cx="5746284" cy="375958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0785F80-FC9B-D487-5FC9-19BD3EBF6280}"/>
                  </a:ext>
                </a:extLst>
              </p:cNvPr>
              <p:cNvSpPr txBox="1"/>
              <p:nvPr/>
            </p:nvSpPr>
            <p:spPr>
              <a:xfrm>
                <a:off x="1017068" y="3263584"/>
                <a:ext cx="7315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0785F80-FC9B-D487-5FC9-19BD3EBF62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068" y="3263584"/>
                <a:ext cx="731521" cy="369332"/>
              </a:xfrm>
              <a:prstGeom prst="rect">
                <a:avLst/>
              </a:prstGeom>
              <a:blipFill>
                <a:blip r:embed="rId5"/>
                <a:stretch>
                  <a:fillRect l="-7500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EA6C35D-AC3B-5E18-5DCC-94FF39BA2950}"/>
                  </a:ext>
                </a:extLst>
              </p:cNvPr>
              <p:cNvSpPr txBox="1"/>
              <p:nvPr/>
            </p:nvSpPr>
            <p:spPr>
              <a:xfrm>
                <a:off x="5616339" y="3359935"/>
                <a:ext cx="7315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EA6C35D-AC3B-5E18-5DCC-94FF39BA29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6339" y="3359935"/>
                <a:ext cx="731521" cy="369332"/>
              </a:xfrm>
              <a:prstGeom prst="rect">
                <a:avLst/>
              </a:prstGeom>
              <a:blipFill>
                <a:blip r:embed="rId6"/>
                <a:stretch>
                  <a:fillRect l="-6667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06E2BA2-1825-73D3-B710-F8A9A4744D33}"/>
                  </a:ext>
                </a:extLst>
              </p:cNvPr>
              <p:cNvSpPr txBox="1"/>
              <p:nvPr/>
            </p:nvSpPr>
            <p:spPr>
              <a:xfrm>
                <a:off x="6185836" y="4179818"/>
                <a:ext cx="609760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Graph has 𝑂(𝑛) nodes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𝑛𝑑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edges</a:t>
                </a: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06E2BA2-1825-73D3-B710-F8A9A4744D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5836" y="4179818"/>
                <a:ext cx="6097604" cy="461665"/>
              </a:xfrm>
              <a:prstGeom prst="rect">
                <a:avLst/>
              </a:prstGeom>
              <a:blipFill>
                <a:blip r:embed="rId7"/>
                <a:stretch>
                  <a:fillRect l="-1600" t="-13333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3EC77F7-882E-03B2-60CC-1A40DD09FAE8}"/>
                  </a:ext>
                </a:extLst>
              </p:cNvPr>
              <p:cNvSpPr txBox="1"/>
              <p:nvPr/>
            </p:nvSpPr>
            <p:spPr>
              <a:xfrm>
                <a:off x="6185836" y="4726002"/>
                <a:ext cx="5809653" cy="1857047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US" sz="2800" dirty="0"/>
                  <a:t>Thm: If the diameter can be computed in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2−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/>
                  <a:t> time for some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2800" dirty="0"/>
                  <a:t>, then OV has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2−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𝑝𝑜𝑙𝑦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/>
                  <a:t> algorithm, violating SETH.</a:t>
                </a: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3EC77F7-882E-03B2-60CC-1A40DD09FA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5836" y="4726002"/>
                <a:ext cx="5809653" cy="1857047"/>
              </a:xfrm>
              <a:prstGeom prst="rect">
                <a:avLst/>
              </a:prstGeom>
              <a:blipFill>
                <a:blip r:embed="rId8"/>
                <a:stretch>
                  <a:fillRect l="-2092" t="-2597" r="-2824" b="-74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Speech Bubble: Rectangle with Corners Rounded 16">
            <a:extLst>
              <a:ext uri="{FF2B5EF4-FFF2-40B4-BE49-F238E27FC236}">
                <a16:creationId xmlns:a16="http://schemas.microsoft.com/office/drawing/2014/main" id="{F04D702C-EF47-D6D0-BFCA-DBB90F1B40DD}"/>
              </a:ext>
            </a:extLst>
          </p:cNvPr>
          <p:cNvSpPr/>
          <p:nvPr/>
        </p:nvSpPr>
        <p:spPr>
          <a:xfrm>
            <a:off x="259882" y="255572"/>
            <a:ext cx="3667226" cy="685549"/>
          </a:xfrm>
          <a:prstGeom prst="wedgeRoundRectCallout">
            <a:avLst>
              <a:gd name="adj1" fmla="val 18218"/>
              <a:gd name="adj2" fmla="val 209865"/>
              <a:gd name="adj3" fmla="val 1666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Exercise: it’s fine-grained Equivalent to (mono-chromatic.) OV.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7B7F9EF8-B5DE-08F7-7D61-21469C7C447B}"/>
                  </a:ext>
                </a:extLst>
              </p:cNvPr>
              <p:cNvSpPr/>
              <p:nvPr/>
            </p:nvSpPr>
            <p:spPr>
              <a:xfrm>
                <a:off x="4004109" y="125128"/>
                <a:ext cx="8187891" cy="815993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000" dirty="0"/>
                  <a:t>Given unweighted undirected graph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000" dirty="0"/>
                  <a:t> what is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lim>
                        </m:limLow>
                      </m:fName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𝑑𝑖𝑠𝑡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sz="2000" dirty="0"/>
                  <a:t>?</a:t>
                </a:r>
              </a:p>
              <a:p>
                <a:r>
                  <a:rPr lang="en-US" sz="2000" dirty="0"/>
                  <a:t>Naïve algorithm: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𝑛𝑚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time. 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=|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sz="2000" dirty="0"/>
                  <a:t>)</a:t>
                </a:r>
              </a:p>
            </p:txBody>
          </p:sp>
        </mc:Choice>
        <mc:Fallback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7B7F9EF8-B5DE-08F7-7D61-21469C7C44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4109" y="125128"/>
                <a:ext cx="8187891" cy="815993"/>
              </a:xfrm>
              <a:prstGeom prst="rect">
                <a:avLst/>
              </a:prstGeom>
              <a:blipFill>
                <a:blip r:embed="rId9"/>
                <a:stretch>
                  <a:fillRect l="-743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2941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2" grpId="0"/>
      <p:bldP spid="13" grpId="0"/>
      <p:bldP spid="15" grpId="0"/>
      <p:bldP spid="16" grpId="0" animBg="1"/>
      <p:bldP spid="1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373B6-0CFD-EDCA-50ED-D4F02EC19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CDCBB-A1AD-5F4F-3CFE-7C12A1F9D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AA209-B871-3549-1454-2981091F9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Fine-Grained Complexity</a:t>
            </a:r>
          </a:p>
          <a:p>
            <a:pPr marL="0" indent="0">
              <a:buNone/>
            </a:pPr>
            <a:endParaRPr lang="en-US" sz="3200" dirty="0"/>
          </a:p>
          <a:p>
            <a:r>
              <a:rPr lang="en-US" sz="3200" dirty="0"/>
              <a:t>Some basic results (with proofs)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3000" dirty="0"/>
              <a:t>SETH -&gt; Orthogonal Vectors (OV)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3000" dirty="0"/>
              <a:t>OV -&gt; Diameter in sparse graphs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3000" dirty="0"/>
              <a:t>(optional) All-pairs Shortest Paths (APSP) -&gt; Negative Triangle</a:t>
            </a:r>
          </a:p>
          <a:p>
            <a:endParaRPr lang="en-US" sz="3200" dirty="0"/>
          </a:p>
          <a:p>
            <a:endParaRPr lang="en-US" sz="3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8EE9D8-E1B7-61D4-ECEA-B2CA6FAFE283}"/>
              </a:ext>
            </a:extLst>
          </p:cNvPr>
          <p:cNvSpPr/>
          <p:nvPr/>
        </p:nvSpPr>
        <p:spPr>
          <a:xfrm>
            <a:off x="1212783" y="4555247"/>
            <a:ext cx="9881937" cy="50764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616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87D7D-0422-3EF2-6105-D94366D7F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All-Pairs-Shortest-Paths -&gt; Negative Triangle</a:t>
            </a:r>
            <a:br>
              <a:rPr lang="en-US" sz="4400" dirty="0"/>
            </a:br>
            <a:r>
              <a:rPr lang="en-US" sz="4000" dirty="0"/>
              <a:t>[V. </a:t>
            </a:r>
            <a:r>
              <a:rPr lang="en-US" sz="4000" dirty="0" err="1"/>
              <a:t>Vassilevska</a:t>
            </a:r>
            <a:r>
              <a:rPr lang="en-US" sz="4000" dirty="0"/>
              <a:t> W. and R. Williams 2010]</a:t>
            </a:r>
            <a:endParaRPr lang="en-US" sz="4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96CFF4-87B0-66A9-46C5-88D525C0FE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845734"/>
                <a:ext cx="10058400" cy="2013997"/>
              </a:xfrm>
            </p:spPr>
            <p:txBody>
              <a:bodyPr>
                <a:normAutofit/>
              </a:bodyPr>
              <a:lstStyle/>
              <a:p>
                <a:r>
                  <a:rPr lang="en-US" sz="2400" b="1" dirty="0"/>
                  <a:t>APSP: </a:t>
                </a:r>
                <a:r>
                  <a:rPr lang="en-US" sz="2400" dirty="0"/>
                  <a:t>Given an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-node (directed) graph with integer edge weights in [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±</m:t>
                    </m:r>
                  </m:oMath>
                </a14:m>
                <a:r>
                  <a:rPr lang="en-US" sz="2400" dirty="0"/>
                  <a:t>poly(n)], compute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𝑑𝑖𝑠𝑡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for all pairs of nodes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r>
                  <a:rPr lang="en-US" sz="2400" b="1" dirty="0"/>
                  <a:t>Negative Triangle: </a:t>
                </a:r>
                <a:r>
                  <a:rPr lang="en-US" sz="2400" dirty="0"/>
                  <a:t>Given a tripartite graph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(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⊔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⊔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400" dirty="0"/>
                  <a:t>) with integer edge weights in [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±</m:t>
                    </m:r>
                  </m:oMath>
                </a14:m>
                <a:r>
                  <a:rPr lang="en-US" sz="2400" dirty="0"/>
                  <a:t>poly(n)], find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400" dirty="0"/>
                  <a:t> such that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96CFF4-87B0-66A9-46C5-88D525C0FE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845734"/>
                <a:ext cx="10058400" cy="2013997"/>
              </a:xfrm>
              <a:blipFill>
                <a:blip r:embed="rId3"/>
                <a:stretch>
                  <a:fillRect l="-909" t="-4242" r="-2000" b="-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29F964C-AF9C-69C1-9DC7-376B0D53125C}"/>
              </a:ext>
            </a:extLst>
          </p:cNvPr>
          <p:cNvSpPr txBox="1"/>
          <p:nvPr/>
        </p:nvSpPr>
        <p:spPr>
          <a:xfrm>
            <a:off x="492493" y="4119634"/>
            <a:ext cx="116144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Steps: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APSP -&gt; (min,+)-matrix-product.  								(by repeated squaring)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(min,+)-matrix-product -&gt; All-Pairs Negative Triangles 		(by parallel binary search)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All-Pairs Negative Triangles -&gt; Negative Triangle				(</a:t>
            </a:r>
            <a:r>
              <a:rPr lang="en-US" sz="2400" u="sng" dirty="0"/>
              <a:t>The Key Step</a:t>
            </a:r>
            <a:r>
              <a:rPr lang="en-US" sz="2400" dirty="0"/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9C7DC02-28E8-0FCC-3328-1272CE80604F}"/>
                  </a:ext>
                </a:extLst>
              </p:cNvPr>
              <p:cNvSpPr txBox="1"/>
              <p:nvPr/>
            </p:nvSpPr>
            <p:spPr>
              <a:xfrm>
                <a:off x="145983" y="5599889"/>
                <a:ext cx="11960994" cy="5091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Theorem: if NT is solvable in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𝜹</m:t>
                        </m:r>
                      </m:sup>
                    </m:sSup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1" dirty="0"/>
                  <a:t> time, then All-Pairs-NT is solvable in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p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𝜹</m:t>
                            </m:r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400" b="1" dirty="0"/>
                  <a:t> time.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9C7DC02-28E8-0FCC-3328-1272CE8060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983" y="5599889"/>
                <a:ext cx="11960994" cy="509178"/>
              </a:xfrm>
              <a:prstGeom prst="rect">
                <a:avLst/>
              </a:prstGeom>
              <a:blipFill>
                <a:blip r:embed="rId4"/>
                <a:stretch>
                  <a:fillRect l="-815" t="-3614" b="-240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4CD11A71-B695-1D19-AD13-0C2BAC3F33E3}"/>
                  </a:ext>
                </a:extLst>
              </p:cNvPr>
              <p:cNvSpPr/>
              <p:nvPr/>
            </p:nvSpPr>
            <p:spPr>
              <a:xfrm>
                <a:off x="7161197" y="3690831"/>
                <a:ext cx="4350619" cy="748364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All-Pairs NT: for </a:t>
                </a:r>
                <a:r>
                  <a:rPr lang="en-US" u="sng" dirty="0"/>
                  <a:t>every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, output whether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belongs to a neg. triangle</a:t>
                </a:r>
              </a:p>
            </p:txBody>
          </p:sp>
        </mc:Choice>
        <mc:Fallback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4CD11A71-B695-1D19-AD13-0C2BAC3F33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1197" y="3690831"/>
                <a:ext cx="4350619" cy="748364"/>
              </a:xfrm>
              <a:prstGeom prst="rect">
                <a:avLst/>
              </a:prstGeom>
              <a:blipFill>
                <a:blip r:embed="rId5"/>
                <a:stretch>
                  <a:fillRect l="-1117" r="-1955" b="-39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562FC30-4B1A-3C30-4FC1-6A8E58BDCE03}"/>
                  </a:ext>
                </a:extLst>
              </p:cNvPr>
              <p:cNvSpPr/>
              <p:nvPr/>
            </p:nvSpPr>
            <p:spPr>
              <a:xfrm>
                <a:off x="1953929" y="3745452"/>
                <a:ext cx="4350619" cy="748364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(Min,+)-product: for </a:t>
                </a:r>
                <a:r>
                  <a:rPr lang="en-US" u="sng" dirty="0"/>
                  <a:t>every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, output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lim>
                        </m:limLow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562FC30-4B1A-3C30-4FC1-6A8E58BDCE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3929" y="3745452"/>
                <a:ext cx="4350619" cy="748364"/>
              </a:xfrm>
              <a:prstGeom prst="rect">
                <a:avLst/>
              </a:prstGeom>
              <a:blipFill>
                <a:blip r:embed="rId6"/>
                <a:stretch>
                  <a:fillRect b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2249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45B2E-1E34-94CC-AF08-3B04EB931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Extensions of FGC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46BEF-6518-1B2F-4E74-79787CA8F0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2800" dirty="0"/>
              <a:t>Dynamic Data Structures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800" dirty="0"/>
              <a:t>Average case hardness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800" dirty="0"/>
              <a:t>Hardness of approximation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800" dirty="0"/>
              <a:t>Quantum Fine-grained complexity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8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589189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D2730-91A6-B4A9-44F9-5BB338D00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73CD9-579F-A4DF-7FE7-79EFAA2B31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33693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E84B9-02CC-BDDC-BEC5-336FD0576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Fine-Grained Complexity &amp; Algorithm Design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522C58-4978-F0C6-FF73-47834254E7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845733"/>
                <a:ext cx="10395284" cy="4401063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800" dirty="0"/>
                  <a:t>FGC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sz="2800" dirty="0"/>
                  <a:t> design oracle-algorithms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Techniques for FGC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US" sz="2400" dirty="0"/>
                  <a:t> Techniques for designing algorithms</a:t>
                </a:r>
                <a:endParaRPr lang="en-US" sz="280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800" dirty="0"/>
                  <a:t>Conditional Lower Bounds (CLB) inform </a:t>
                </a:r>
                <a:r>
                  <a:rPr lang="en-US" sz="2800" dirty="0" err="1"/>
                  <a:t>algorithmists</a:t>
                </a:r>
                <a:r>
                  <a:rPr lang="en-US" sz="2800" dirty="0"/>
                  <a:t> what to do: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If CLB exist, stop spending time on finding faster algorithms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If can’t prove CLB, maybe there is actually a faster algorithm!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800" dirty="0"/>
                  <a:t>Are the hardness assumptions (SETH, 3SUM, APSP,…) actually true..?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sz="2600" dirty="0"/>
                  <a:t>Some assumptions in the literature were later falsified..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sz="2600" dirty="0"/>
                  <a:t>(spirit of FGC: a common explanation for the bottleneck of </a:t>
                </a:r>
                <a:r>
                  <a:rPr lang="en-US" sz="2600" u="sng" dirty="0"/>
                  <a:t>many</a:t>
                </a:r>
                <a:r>
                  <a:rPr lang="en-US" sz="2600" dirty="0"/>
                  <a:t> problems)</a:t>
                </a:r>
              </a:p>
              <a:p>
                <a:pPr lvl="2">
                  <a:buFont typeface="Arial" panose="020B0604020202020204" pitchFamily="34" charset="0"/>
                  <a:buChar char="•"/>
                </a:pPr>
                <a:r>
                  <a:rPr lang="en-US" sz="2200" dirty="0"/>
                  <a:t>another motivation to try to break SETH!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sz="2600" dirty="0"/>
                  <a:t>Some hardness results based on </a:t>
                </a:r>
                <a:r>
                  <a:rPr lang="en-US" sz="2600" u="sng" dirty="0"/>
                  <a:t>false assumptions (!)</a:t>
                </a:r>
                <a:r>
                  <a:rPr lang="en-US" sz="2600" dirty="0"/>
                  <a:t> (e.g., “Boolean matrix multiplication requires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2600" dirty="0"/>
                  <a:t> time”) are still somewhat meaningful..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endParaRPr lang="en-US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522C58-4978-F0C6-FF73-47834254E7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845733"/>
                <a:ext cx="10395284" cy="4401063"/>
              </a:xfrm>
              <a:blipFill>
                <a:blip r:embed="rId3"/>
                <a:stretch>
                  <a:fillRect l="-1760" t="-27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6456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36423</TotalTime>
  <Words>3450</Words>
  <Application>Microsoft Office PowerPoint</Application>
  <PresentationFormat>Widescreen</PresentationFormat>
  <Paragraphs>441</Paragraphs>
  <Slides>34</Slides>
  <Notes>18</Notes>
  <HiddenSlides>1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5" baseType="lpstr">
      <vt:lpstr>Wingdings</vt:lpstr>
      <vt:lpstr>Calibri</vt:lpstr>
      <vt:lpstr>Symbol</vt:lpstr>
      <vt:lpstr>Arial</vt:lpstr>
      <vt:lpstr>Cambria Math</vt:lpstr>
      <vt:lpstr>Wingdings 3</vt:lpstr>
      <vt:lpstr>Century Gothic</vt:lpstr>
      <vt:lpstr>Calibri Light</vt:lpstr>
      <vt:lpstr>Courier New</vt:lpstr>
      <vt:lpstr>American Typewriter</vt:lpstr>
      <vt:lpstr>Retrospect</vt:lpstr>
      <vt:lpstr>Introduction to  Fine-Grained Complexity</vt:lpstr>
      <vt:lpstr>The Central Question of Algorithms Research</vt:lpstr>
      <vt:lpstr>Hard problems</vt:lpstr>
      <vt:lpstr>A canonical hard problem</vt:lpstr>
      <vt:lpstr>Another Hard problem: Edit Distance</vt:lpstr>
      <vt:lpstr>PowerPoint Presentation</vt:lpstr>
      <vt:lpstr>We are stuck on many problems, even just in O(n^2) time</vt:lpstr>
      <vt:lpstr>We are stuck on many problems, even just in O(n^2) time</vt:lpstr>
      <vt:lpstr>We are stuck on many problems, even just in O(n^2) time</vt:lpstr>
      <vt:lpstr>We are stuck on many problems, even just in O(n^2) time</vt:lpstr>
      <vt:lpstr>The success of NP-completeness theory (not sufficient for our purpose!)</vt:lpstr>
      <vt:lpstr>We are stuck on many problems, even just in O(n^2) time</vt:lpstr>
      <vt:lpstr>PLAN</vt:lpstr>
      <vt:lpstr>Time hierarchy theorems</vt:lpstr>
      <vt:lpstr>PowerPoint Presentation</vt:lpstr>
      <vt:lpstr>PLAN</vt:lpstr>
      <vt:lpstr>SAT is conjectured to be really hard</vt:lpstr>
      <vt:lpstr>PowerPoint Presentation</vt:lpstr>
      <vt:lpstr>Example: ED is SETH-hard</vt:lpstr>
      <vt:lpstr>PLAN</vt:lpstr>
      <vt:lpstr>Fine-grained reductions  (Vassilevska and Williams’10)</vt:lpstr>
      <vt:lpstr>Fine-Grained structure within P</vt:lpstr>
      <vt:lpstr>PLAN</vt:lpstr>
      <vt:lpstr>Orthogonal Vectors (OV)</vt:lpstr>
      <vt:lpstr>Fast OV implies SETH is false [Williams’04]</vt:lpstr>
      <vt:lpstr>Fast OV implies SETH is false [Williams’04]</vt:lpstr>
      <vt:lpstr>Fast OV implies SETH is false</vt:lpstr>
      <vt:lpstr>PLAN</vt:lpstr>
      <vt:lpstr>Sparse Graph Diameter (Roditty-Vassilevska W.’13)</vt:lpstr>
      <vt:lpstr>PLAN</vt:lpstr>
      <vt:lpstr>All-Pairs-Shortest-Paths -&gt; Negative Triangle [V. Vassilevska W. and R. Williams 2010]</vt:lpstr>
      <vt:lpstr>Extensions of FGC</vt:lpstr>
      <vt:lpstr>THANK YOU</vt:lpstr>
      <vt:lpstr>Fine-Grained Complexity &amp; Algorithm Design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Fine-Grained Approach to Complexity</dc:title>
  <cp:lastModifiedBy>Ce Jin</cp:lastModifiedBy>
  <cp:revision>323</cp:revision>
  <dcterms:created xsi:type="dcterms:W3CDTF">2018-07-31T00:23:10Z</dcterms:created>
  <dcterms:modified xsi:type="dcterms:W3CDTF">2025-11-18T22:13:19Z</dcterms:modified>
</cp:coreProperties>
</file>